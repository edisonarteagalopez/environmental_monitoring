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31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24144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24144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24144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24144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24144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44768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44768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44768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65392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65392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86016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86016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86016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86016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06640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0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27264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827264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27264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827264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47888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47888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47888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47888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47888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68512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68512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68512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68512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668512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256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do Grupo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02920" y="6583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Ambientes</a:t>
            </a:r>
            <a:endParaRPr lang="en-US" sz="3300" dirty="0"/>
          </a:p>
        </p:txBody>
      </p:sp>
      <p:sp>
        <p:nvSpPr>
          <p:cNvPr id="50" name="Text 48"/>
          <p:cNvSpPr/>
          <p:nvPr/>
        </p:nvSpPr>
        <p:spPr>
          <a:xfrm>
            <a:off x="502920" y="190195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detalhada  |  Hardware / App / Rede / Plataforma  |  Etapas de construção  |  Desafios e soluções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98080" y="109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2920" y="2514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Andres Arteaga Lopez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" y="2898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Professores: Allan M. de Souza  |  Daniel L. Guidoni  |  Juliana F. Borin  |  Monitor: Rafael de Oliveira Jarczewski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" y="3218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Android IoT Embarcado  —  UNICAMP / Instituto Eldorado / Softex  —  Junho 2026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3703320"/>
            <a:ext cx="8138160" cy="1115568"/>
          </a:xfrm>
          <a:prstGeom prst="roundRect">
            <a:avLst>
              <a:gd name="adj" fmla="val 5738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3785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Tema do Grupo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319272" y="3785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Arquitetura e Fluxo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16752" y="3785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/ App / Rede / Plataforma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1792" y="42062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Etapas de Construção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319272" y="420624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Desafios Técnicos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Tema do Grupo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de Ambientes — definicao, objetivos e escopo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159105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IoT completo para monitoramento continuo de temperatura e umidade em ambientes, com transmissao sem fio de longo alcance (LoRaWAN), processamento em nuvem (TTI) e visualizacao em tempo real em um aplicativo Android nativo.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2596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Principais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2999232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2926080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dados de temperatura e umidade via sensor DHT22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3328416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3255264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via LoRaWAN com baixo consumo de energia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3657600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3584448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na plataforma TTI (instancia UNICAMP)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3986784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" y="3913632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dashboard em tempo real com historico grafico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4315968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" y="4242816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alertas configurados pelo usuario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1261872"/>
            <a:ext cx="4279392" cy="3529584"/>
          </a:xfrm>
          <a:prstGeom prst="roundRect">
            <a:avLst>
              <a:gd name="adj" fmla="val 2073"/>
            </a:avLst>
          </a:prstGeom>
          <a:solidFill>
            <a:srgbClr val="F8F8FC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13350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Projeto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73168" y="1682496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EDE7F6"/>
          </a:solidFill>
          <a:ln w="7620">
            <a:solidFill>
              <a:srgbClr val="5C2D9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168249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Embarcado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84848" y="1682496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7620">
            <a:solidFill>
              <a:srgbClr val="006A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168249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LoRaWAN (LPWAN)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73168" y="2176272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7620">
            <a:solidFill>
              <a:srgbClr val="006A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217627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IoT (TTI)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84848" y="2176272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217627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(Kotlin)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73168" y="2670048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26700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84848" y="2670048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 w="762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267004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e Notificacoes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4360" y="3255264"/>
            <a:ext cx="7955280" cy="9144"/>
          </a:xfrm>
          <a:prstGeom prst="rect">
            <a:avLst/>
          </a:prstGeom>
          <a:solidFill>
            <a:srgbClr val="DDDDEE"/>
          </a:solidFill>
          <a:ln/>
        </p:spPr>
      </p:sp>
      <p:sp>
        <p:nvSpPr>
          <p:cNvPr id="56" name="Text 54"/>
          <p:cNvSpPr/>
          <p:nvPr/>
        </p:nvSpPr>
        <p:spPr>
          <a:xfrm>
            <a:off x="4773168" y="33284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Correspondencia com o curso: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3168" y="3584448"/>
            <a:ext cx="402336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"Monitoramento Inteligente de Ambientes: coleta de temperatura e umidade, visualizacao em dashboard e geracao de alertas" — Exemplo exato citado no enunciado do Projeto Final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Arquitetura do Sistema — Visao Geral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camadas: Percepcao → Conectividade sem fio → Transporte → Nuvem IoT → Aplicacao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1572768" cy="3310128"/>
          </a:xfrm>
          <a:prstGeom prst="roundRect">
            <a:avLst>
              <a:gd name="adj" fmla="val 4070"/>
            </a:avLst>
          </a:prstGeom>
          <a:solidFill>
            <a:srgbClr val="EDE7F6"/>
          </a:solidFill>
          <a:ln w="7620">
            <a:solidFill>
              <a:srgbClr val="3B1A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1298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1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Percepcao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" y="182880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3B1A68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" y="1828800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" y="3054096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3B1A68"/>
          </a:solidFill>
          <a:ln/>
          <a:effectLst>
            <a:outerShdw sx="100000" sy="100000" kx="0" ky="0" algn="bl" rotWithShape="0" blurRad="806450000" dist="322580000" dir="162000000000">
              <a:srgbClr val="000000">
                <a:alpha val="10000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" y="3054096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LoRa32v2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21408" y="2752344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8A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212848" y="1261872"/>
            <a:ext cx="1572768" cy="3310128"/>
          </a:xfrm>
          <a:prstGeom prst="roundRect">
            <a:avLst>
              <a:gd name="adj" fmla="val 4070"/>
            </a:avLst>
          </a:prstGeom>
          <a:solidFill>
            <a:srgbClr val="EDE7F6"/>
          </a:solidFill>
          <a:ln w="7620">
            <a:solidFill>
              <a:srgbClr val="4A14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12848" y="1298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0" y="182880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0241915000000" dist="4096766000000" dir="9720000000000000">
              <a:srgbClr val="000000">
                <a:alpha val="1000000000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86000" y="1828800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Modulacao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SF7-12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3054096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4A148C"/>
          </a:solidFill>
          <a:ln/>
          <a:effectLst>
            <a:outerShdw sx="100000" sy="100000" kx="0" ky="0" algn="bl" rotWithShape="0" blurRad="130072320500000000" dist="52028928200000000" dir="583200000000000000000">
              <a:srgbClr val="000000">
                <a:alpha val="1000000000000000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286000" y="3054096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Dragino LPS8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85616" y="2752344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8A"/>
                </a:solidFill>
              </a:rPr>
              <a:t>&gt;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877056" y="1261872"/>
            <a:ext cx="1572768" cy="3310128"/>
          </a:xfrm>
          <a:prstGeom prst="roundRect">
            <a:avLst>
              <a:gd name="adj" fmla="val 4070"/>
            </a:avLst>
          </a:prstGeom>
          <a:solidFill>
            <a:srgbClr val="E0F2F1"/>
          </a:solidFill>
          <a:ln w="7620">
            <a:solidFill>
              <a:srgbClr val="006A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7056" y="1298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950208" y="182880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65191847035e+21" dist="660767388140000000000" dir="3.4992e+25">
              <a:srgbClr val="000000">
                <a:alpha val="1e+24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950208" y="1828800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49824" y="2752344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8A"/>
                </a:solidFill>
              </a:rPr>
              <a:t>&gt;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541264" y="1261872"/>
            <a:ext cx="1572768" cy="3310128"/>
          </a:xfrm>
          <a:prstGeom prst="roundRect">
            <a:avLst>
              <a:gd name="adj" fmla="val 4070"/>
            </a:avLst>
          </a:prstGeom>
          <a:solidFill>
            <a:srgbClr val="E0F2F1"/>
          </a:solidFill>
          <a:ln w="7620">
            <a:solidFill>
              <a:srgbClr val="006A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41264" y="1298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IoT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14416" y="182880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006A63"/>
          </a:solidFill>
          <a:ln/>
          <a:effectLst>
            <a:outerShdw sx="100000" sy="100000" kx="0" ky="0" algn="bl" rotWithShape="0" blurRad="2.0979364573445003e+25" dist="8.391745829378e+24" dir="2.09952e+30">
              <a:srgbClr val="000000">
                <a:alpha val="1e+29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14416" y="1828800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14416" y="3054096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006A63"/>
          </a:solidFill>
          <a:ln/>
          <a:effectLst>
            <a:outerShdw sx="100000" sy="100000" kx="0" ky="0" algn="bl" rotWithShape="0" blurRad="2.6643793008275154e+29" dist="1.0657517203310059e+29" dir="1.259712e+35">
              <a:srgbClr val="000000">
                <a:alpha val="1e+34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614416" y="3054096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14032" y="2752344"/>
            <a:ext cx="9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8A"/>
                </a:solidFill>
              </a:rPr>
              <a:t>&gt;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205472" y="1261872"/>
            <a:ext cx="1572768" cy="3310128"/>
          </a:xfrm>
          <a:prstGeom prst="roundRect">
            <a:avLst>
              <a:gd name="adj" fmla="val 4070"/>
            </a:avLst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12984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278624" y="182880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3.3837617120509443e+33" dist="1.3535046848203775e+33" dir="7.558272e+39">
              <a:srgbClr val="000000">
                <a:alpha val="1e+39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278624" y="1828800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278624" y="3054096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1565C0"/>
          </a:solidFill>
          <a:ln/>
          <a:effectLst>
            <a:outerShdw sx="100000" sy="100000" kx="0" ky="0" algn="bl" rotWithShape="0" blurRad="4.297377374304699e+37" dist="1.7189509497218795e+37" dir="4.5349632000000006e+44">
              <a:srgbClr val="000000">
                <a:alpha val="9.999999999999999e+43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278624" y="3054096"/>
            <a:ext cx="142646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4663440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4700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percorrido:  [bytes] → [LoRa frame] → [JSON TTI] → [MQTT payload] → [Room entity] → [UI StateFlow]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Fluxo de Dados Detalhado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Transformacao do dado em cada etapa — desde a leitura do sensor ate a UI do app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3B1A68"/>
          </a:solidFill>
          <a:ln/>
          <a:effectLst>
            <a:outerShdw sx="100000" sy="100000" kx="0" ky="0" algn="bl" rotWithShape="0" blurRad="5.457669265366968e+41" dist="2.183067706146787e+41" dir="2.72097792e+49">
              <a:srgbClr val="000000">
                <a:alpha val="1e+4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2396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DHT22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5216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temp, float hum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(raw analogico)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5216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1-wire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508760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19794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5C2D91"/>
          </a:solidFill>
          <a:ln/>
          <a:effectLst>
            <a:outerShdw sx="100000" sy="100000" kx="0" ky="0" algn="bl" rotWithShape="0" blurRad="6.93123996701605e+45" dist="2.7724959868064195e+45" dir="1.6325867520000003e+54">
              <a:srgbClr val="000000">
                <a:alpha val="9.999999999999999e+53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53550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53550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56370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Empacotamento ESP32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56370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bytes: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[seq][tempH][tempL][hum]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656370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C++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579914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90949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6A1B9A"/>
          </a:solidFill>
          <a:ln/>
          <a:effectLst>
            <a:outerShdw sx="100000" sy="100000" kx="0" ky="0" algn="bl" rotWithShape="0" blurRad="8.802674758110384e+49" dist="3.5210699032441527e+49" dir="9.795520512000002e+58">
              <a:srgbClr val="000000">
                <a:alpha val="9.999999999999999e+58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24705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024705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27525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AU915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727525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PHYPayload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(OTAA, MIC, Fport=1)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727525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SF7-12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651069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62103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1179396942800187e+54" dist="4.471758777120074e+53" dir="5.877312307200001e+63">
              <a:srgbClr val="000000">
                <a:alpha val="9.999999999999999e+63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095859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095859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98679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LPS8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798679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semilegal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(rssi, snr, freq)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98679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IP/UDP Semtech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722223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33257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006A63"/>
          </a:solidFill>
          <a:ln/>
          <a:effectLst>
            <a:outerShdw sx="100000" sy="100000" kx="0" ky="0" algn="bl" rotWithShape="0" blurRad="1.419783411735624e+58" dist="5.679133646942494e+57" dir="3.526387384320001e+68">
              <a:srgbClr val="000000">
                <a:alpha val="9.999999999999999e+68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167013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167013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69833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Decoder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69833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seq, temp, hum }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(JavaScript)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869833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Formatter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5793377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904411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00695C"/>
          </a:solidFill>
          <a:ln/>
          <a:effectLst>
            <a:outerShdw sx="100000" sy="100000" kx="0" ky="0" algn="bl" rotWithShape="0" blurRad="1.8031249329042424e+62" dist="7.212499731616968e+61" dir="2.1158324305920003e+73">
              <a:srgbClr val="000000">
                <a:alpha val="9.999999999999998e+73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238167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238167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940987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0987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uplink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(device_id, payload)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40987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MQTT/TLS 8883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6864531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75566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1565C0"/>
          </a:solidFill>
          <a:ln/>
          <a:effectLst>
            <a:outerShdw sx="100000" sy="100000" kx="0" ky="0" algn="bl" rotWithShape="0" blurRad="2.289968664788388e+66" dist="9.15987465915355e+65" dir="1.2694994583552002e+78">
              <a:srgbClr val="000000">
                <a:alpha val="9.999999999999998e+78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309322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309322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12142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MQTT Sub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012142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MqttMessage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DTO Kotlin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012142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1.3.3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935686" y="1883664"/>
            <a:ext cx="111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8A"/>
                </a:solidFill>
              </a:rPr>
              <a:t>&gt;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046720" y="1261872"/>
            <a:ext cx="960120" cy="1481328"/>
          </a:xfrm>
          <a:prstGeom prst="roundRect">
            <a:avLst>
              <a:gd name="adj" fmla="val 5714"/>
            </a:avLst>
          </a:prstGeom>
          <a:solidFill>
            <a:srgbClr val="1A237E"/>
          </a:solidFill>
          <a:ln/>
          <a:effectLst>
            <a:outerShdw sx="100000" sy="100000" kx="0" ky="0" algn="bl" rotWithShape="0" blurRad="2.908260204281253e+70" dist="1.1633040817125008e+70" dir="7.616996750131201e+82">
              <a:srgbClr val="000000">
                <a:alpha val="9.999999999999998e+83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380476" y="132588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380476" y="1325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083296" y="166420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UI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083296" y="2066544"/>
            <a:ext cx="8869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SensorReading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DE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+ StateFlow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083296" y="2505456"/>
            <a:ext cx="886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BB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recompose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48640" y="2871216"/>
            <a:ext cx="8412480" cy="1554480"/>
          </a:xfrm>
          <a:prstGeom prst="roundRect">
            <a:avLst>
              <a:gd name="adj" fmla="val 4118"/>
            </a:avLst>
          </a:prstGeom>
          <a:solidFill>
            <a:srgbClr val="F8F8FC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" y="29260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do Payload (passo 2 e 5):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76656" y="3200400"/>
            <a:ext cx="41148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0:  seq  (contador de sequencia, uint8)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1:  tempH  (parte alta: int(temp*10) &gt;&gt; 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2:  tempL  (parte baixa: int(temp*10) &amp; 0xFF)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3:  hum   (int(hum*2), uint8 — range 0..200)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937760" y="29260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Latencias tipicas: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937760" y="32004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DHT22 → TX LoRa: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543800" y="32004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937760" y="34564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LoRa → Gateway IP: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543800" y="34564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SF7 ~51ms AR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937760" y="37124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→ TTI decode: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543800" y="371246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~100-300ms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937760" y="39684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MQTT → App Android: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543800" y="39684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~200-400ms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4937760" y="42245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sensor → UI: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543800" y="42245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segundos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— No IoT (LoRa32v2 + DHT22)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LoRa32v2: ESP32 240 MHz + SX1276 LoRa + OLED display — Firmware: leitura, empacotamento e transmissao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4023360" cy="3218688"/>
          </a:xfrm>
          <a:prstGeom prst="roundRect">
            <a:avLst>
              <a:gd name="adj" fmla="val 1989"/>
            </a:avLst>
          </a:prstGeom>
          <a:solidFill>
            <a:srgbClr val="EDE7F6"/>
          </a:solidFill>
          <a:ln w="8890">
            <a:solidFill>
              <a:srgbClr val="5C2D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1335024"/>
            <a:ext cx="3803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LoRa32v2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166420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0" y="166420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Xtensa LX6, 240 MHz dual-core + ULP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8368" y="193852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0" y="193852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 SRAM | 8 MB Flash SPI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368" y="221284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28800" y="221284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SX1276 — 915 MHz (AU915), +20dBm TX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58368" y="248716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28800" y="248716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 -148 dBm (SF12) / -118 dBm (SF7)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8368" y="276148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0" y="276148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 b/g/n ate 150 Mbps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8368" y="303580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28800" y="303580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V4.2 BR/EDR + 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331012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828800" y="331012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pinos programaveis | I2C, UART, SPI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58368" y="358444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28800" y="358444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0.96" 128x64 integrado (I2C)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58368" y="385876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828800" y="385876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Litio 3.7V via conector JST-SH 2 pinos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8368" y="4133088"/>
            <a:ext cx="11338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Dimensoes: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828800" y="4133088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x 25,5 x 10,6 mm  |  ~8g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1261872"/>
            <a:ext cx="3822192" cy="1371600"/>
          </a:xfrm>
          <a:prstGeom prst="roundRect">
            <a:avLst>
              <a:gd name="adj" fmla="val 4667"/>
            </a:avLst>
          </a:prstGeom>
          <a:solidFill>
            <a:srgbClr val="E0F2F1"/>
          </a:solidFill>
          <a:ln w="8890">
            <a:solidFill>
              <a:srgbClr val="006A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1335024"/>
            <a:ext cx="3584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/ AM2302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64608" y="162763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05856" y="1627632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-40~+125 C (±0.5 C)  |  0~100% RH (±2~5%)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64608" y="188366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05856" y="1883664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1-wire digital  |  3.3 V ~ 6 V  |  2.5 mA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64608" y="21396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Taxa: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05856" y="2139696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Hz (1 leitura a cada 2 segundos)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64608" y="23957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Pinos: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05856" y="2395728"/>
            <a:ext cx="2779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 / DATA / NC / GND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54880" y="274320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— Ciclo de Execucao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754880" y="3054096"/>
            <a:ext cx="3822192" cy="329184"/>
          </a:xfrm>
          <a:prstGeom prst="roundRect">
            <a:avLst>
              <a:gd name="adj" fmla="val 13889"/>
            </a:avLst>
          </a:prstGeom>
          <a:solidFill>
            <a:srgbClr val="E3F2FD"/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28032" y="30906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Setup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687568" y="309067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Serial, OLED, DHT22, WiFi stack, OTAA join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54880" y="3419856"/>
            <a:ext cx="3822192" cy="329184"/>
          </a:xfrm>
          <a:prstGeom prst="roundRect">
            <a:avLst>
              <a:gd name="adj" fmla="val 13889"/>
            </a:avLst>
          </a:prstGeom>
          <a:solidFill>
            <a:srgbClr val="E3F2FD"/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Loop (2s)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87568" y="345643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DHT22 → valida dados → atualiza OLED display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754880" y="3785616"/>
            <a:ext cx="3822192" cy="329184"/>
          </a:xfrm>
          <a:prstGeom prst="roundRect">
            <a:avLst>
              <a:gd name="adj" fmla="val 13889"/>
            </a:avLst>
          </a:prstGeom>
          <a:solidFill>
            <a:srgbClr val="E3F2FD"/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3822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Empacota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687568" y="382219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bytes: [seq][tempH][tempL][hum] em buffer uint8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54880" y="4151376"/>
            <a:ext cx="3822192" cy="329184"/>
          </a:xfrm>
          <a:prstGeom prst="roundRect">
            <a:avLst>
              <a:gd name="adj" fmla="val 13889"/>
            </a:avLst>
          </a:prstGeom>
          <a:solidFill>
            <a:srgbClr val="E3F2FD"/>
          </a:solidFill>
          <a:ln w="508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8032" y="4187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TX LoRa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687568" y="418795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LoRaWAN.sendUplink(buf, Fport=1) — confirma ACK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48640" y="4608576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F8F8FC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estimado: TX LoRa ~120mA  |  Sleep ~10uA  |  Operacao continua com bateria 18650 (2500mAh) &gt; 24h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Rede — LoRaWAN (AU915)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LPWAN de longo alcance e baixo consumo — configuracao OTAA no plano AU915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1298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Protocolo LoRaWAN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1627632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16276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 (FPort 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2194560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5E35B1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1945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MAC (OTAA, ADR)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2761488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5C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76148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PHY (SF7-12 / BW125)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3328416"/>
            <a:ext cx="3749040" cy="475488"/>
          </a:xfrm>
          <a:prstGeom prst="roundRect">
            <a:avLst>
              <a:gd name="adj" fmla="val 9615"/>
            </a:avLst>
          </a:prstGeom>
          <a:solidFill>
            <a:srgbClr val="3B1A68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32841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SX1276 — 915 MHz RF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39136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AU915 — Configuracao de Canais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41696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Sub-banda 2: UL 916.8-919.2 MHz (DR0-DR3) | DL 923.3-927.5 MHz (DR8-DR13)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Mask configurado via OTAA Join-Accept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1261872"/>
            <a:ext cx="4251960" cy="3218688"/>
          </a:xfrm>
          <a:prstGeom prst="roundRect">
            <a:avLst>
              <a:gd name="adj" fmla="val 1989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33502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 LoRaWAN do Projeto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1645920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16733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Ativacao: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167335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OTAA (Over-the-Air Activation)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36592" y="19202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AppEUI / JoinEUI: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0" y="192024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no TTI / UNICAMP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2139696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47" name="Text 45"/>
          <p:cNvSpPr/>
          <p:nvPr/>
        </p:nvSpPr>
        <p:spPr>
          <a:xfrm>
            <a:off x="4736592" y="2167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Frequencia: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0" y="21671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AU915 Sub-Banda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36592" y="2414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Factor: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26480" y="241401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SF7 (padrao ADR minimo)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2633472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26609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26480" y="266090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BW125 kHz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36592" y="29077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TX: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0" y="29077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dBm (maximo SX1276)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3127248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57" name="Text 55"/>
          <p:cNvSpPr/>
          <p:nvPr/>
        </p:nvSpPr>
        <p:spPr>
          <a:xfrm>
            <a:off x="4736592" y="3154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Sensibilidade RX: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26480" y="315468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-148 dBm @ SF12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36592" y="3401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tipico: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26480" y="340156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2~5 km urbano | 15 km campo aberto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3621024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62" name="Text 60"/>
          <p:cNvSpPr/>
          <p:nvPr/>
        </p:nvSpPr>
        <p:spPr>
          <a:xfrm>
            <a:off x="4736592" y="36484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Cycle: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0" y="364845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(regulamentacao ANATEL)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36592" y="38953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2648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 — SF dinamico por RSSI/SNR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63440" y="4114800"/>
            <a:ext cx="4251960" cy="246888"/>
          </a:xfrm>
          <a:prstGeom prst="rect">
            <a:avLst/>
          </a:prstGeom>
          <a:solidFill>
            <a:srgbClr val="F8F8FC"/>
          </a:solidFill>
          <a:ln/>
        </p:spPr>
      </p:sp>
      <p:sp>
        <p:nvSpPr>
          <p:cNvPr id="67" name="Text 65"/>
          <p:cNvSpPr/>
          <p:nvPr/>
        </p:nvSpPr>
        <p:spPr>
          <a:xfrm>
            <a:off x="4736592" y="41422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ACK: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26480" y="41422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Uplink (FPort 1)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48640" y="4681728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F8F8FC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" y="47000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Dragino LPS8  |  Chipset: Semtech SX1302 + SX1250  |  10 canais paralelos  |  Conexao: Ethernet RJ45 + Wi-Fi  |  Alcance: ate -140 dBm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Plataforma IoT — The Things Industries (TTI)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privada UNICAMP: registro de dispositivos, decodificacao de payload e distribuicao via MQTT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633472" cy="3218688"/>
          </a:xfrm>
          <a:prstGeom prst="roundRect">
            <a:avLst>
              <a:gd name="adj" fmla="val 2431"/>
            </a:avLst>
          </a:prstGeom>
          <a:solidFill>
            <a:srgbClr val="EDE7F6"/>
          </a:solidFill>
          <a:ln w="8890">
            <a:solidFill>
              <a:srgbClr val="5C2D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1335024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TTI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164592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53312" y="16459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unicamp.au1.cloud.thethings.industries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192024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353312" y="19202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iotdlt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40080" y="21945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353312" y="21945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0080" y="246888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353312" y="24688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lorawan_node_1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0080" y="274320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FreqPlan: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353312" y="27432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915-928 MHz, FSB 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40080" y="301752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353312" y="30175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au1 (Sydney)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0080" y="329184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Versao: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353312" y="32918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1.0.3, Regional B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40080" y="35661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353312" y="35661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AppSKey + NwkSKey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40080" y="384048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DevEUI: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353312" y="384048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via OTAA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310128" y="1261872"/>
            <a:ext cx="2633472" cy="3218688"/>
          </a:xfrm>
          <a:prstGeom prst="roundRect">
            <a:avLst>
              <a:gd name="adj" fmla="val 2431"/>
            </a:avLst>
          </a:prstGeom>
          <a:solidFill>
            <a:srgbClr val="F0EEF8"/>
          </a:solidFill>
          <a:ln w="8890">
            <a:solidFill>
              <a:srgbClr val="3B1A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1568" y="1335024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1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Formatter (JS)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1627632"/>
            <a:ext cx="2487168" cy="2249424"/>
          </a:xfrm>
          <a:prstGeom prst="roundRect">
            <a:avLst>
              <a:gd name="adj" fmla="val 2033"/>
            </a:avLst>
          </a:prstGeom>
          <a:solidFill>
            <a:srgbClr val="1E1E2E"/>
          </a:solidFill>
          <a:ln/>
        </p:spPr>
      </p:sp>
      <p:sp>
        <p:nvSpPr>
          <p:cNvPr id="51" name="Text 49"/>
          <p:cNvSpPr/>
          <p:nvPr/>
        </p:nvSpPr>
        <p:spPr>
          <a:xfrm>
            <a:off x="3456432" y="1682496"/>
            <a:ext cx="234086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decodeUplink(input)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input.bytes;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Byte 0: sequencia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Bytes 1-2: temperatura x10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Byte 3: umidade x2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temp =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((b[1]&lt;&lt;8)|b[2]) / 10.0;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hum = b[3] / 2.0;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seq:  b[0],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temp: temp,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hum:  hum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01568" y="3931920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B1A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Saida: { seq, temp: 21.7, hum: 53.6 }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01568" y="418795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pelo app para exibir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do nodo-2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71616" y="1261872"/>
            <a:ext cx="2633472" cy="3218688"/>
          </a:xfrm>
          <a:prstGeom prst="roundRect">
            <a:avLst>
              <a:gd name="adj" fmla="val 2431"/>
            </a:avLst>
          </a:prstGeom>
          <a:solidFill>
            <a:srgbClr val="E0F2F1"/>
          </a:solidFill>
          <a:ln w="8890">
            <a:solidFill>
              <a:srgbClr val="006A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63056" y="1335024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MQTT/TLS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63056" y="1645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87184" y="164592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unicamp.au1...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163056" y="1920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Porta: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187184" y="192024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8883 (TLS 1.2+)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163056" y="2194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187184" y="219456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iotdlt@unicamp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163056" y="2468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187184" y="246888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(DataStore)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163056" y="27432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Topico: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187184" y="2743200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v3/{app}@{tenant}/devices/+/up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163056" y="3163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QoS: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187184" y="3163824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(at-most-once)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63056" y="3438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Keep-alive: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187184" y="3438144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segundos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63056" y="37124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Sess: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187184" y="3712464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163056" y="3986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Auto-recon: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187184" y="3986784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48640" y="4608576"/>
            <a:ext cx="8412480" cy="256032"/>
          </a:xfrm>
          <a:prstGeom prst="roundRect">
            <a:avLst>
              <a:gd name="adj" fmla="val 14286"/>
            </a:avLst>
          </a:prstGeom>
          <a:solidFill>
            <a:srgbClr val="F8F8FC"/>
          </a:solidFill>
          <a:ln/>
        </p:spPr>
      </p:sp>
      <p:sp>
        <p:nvSpPr>
          <p:cNvPr id="75" name="Text 73"/>
          <p:cNvSpPr/>
          <p:nvPr/>
        </p:nvSpPr>
        <p:spPr>
          <a:xfrm>
            <a:off x="640080" y="4636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fornece: Network Server + Join Server + Application Server + Identity Server + Storage API integrados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 Android — Arquitetura e Componentes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4 camadas + Manual DI via AppContainer — Android Architecture Guidelines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8028432" cy="768096"/>
          </a:xfrm>
          <a:prstGeom prst="roundRect">
            <a:avLst>
              <a:gd name="adj" fmla="val 7143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261872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5C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1261872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1316736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DashboardScreen · AlarmScreen · SettingsScreen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1609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Material3 · ViewModel · StateFlow · Navigation Compose 2.8 · Grafico Canvas customizado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2103120"/>
            <a:ext cx="8028432" cy="768096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103120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103120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2157984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AlarmEngine · MetricStatus (OK/LOW/HIGH) · Repository interfaces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20240" y="245059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Kotlin — sem dependencia de framework Android · Logica de negocio testavel · enum MetricStatus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2944368"/>
            <a:ext cx="8028432" cy="768096"/>
          </a:xfrm>
          <a:prstGeom prst="roundRect">
            <a:avLst>
              <a:gd name="adj" fmla="val 7143"/>
            </a:avLst>
          </a:prstGeom>
          <a:solidFill>
            <a:srgbClr val="E0F2F1"/>
          </a:solidFill>
          <a:ln w="10160">
            <a:solidFill>
              <a:srgbClr val="006A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2944368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006A63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2944368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20240" y="299923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SensorRepository · SensorDao · AlarmRuleDao · SettingsDataStore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2024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2.7.0 (SQLite) · DataStore Preferences · kotlinx.serialization · KSP 2.1.0-1.0.29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" y="3785616"/>
            <a:ext cx="8028432" cy="768096"/>
          </a:xfrm>
          <a:prstGeom prst="roundRect">
            <a:avLst>
              <a:gd name="adj" fmla="val 7143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3785616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C62828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785616"/>
            <a:ext cx="1280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(MQTT)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920240" y="384048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MqttForegroundService · TtnMqttClient · NotificationHelper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20240" y="413308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LifecycleService · HiveMQ 1.3.3 TLS · FOREGROUND_SERVICE_TYPE_REMOTE_MESSAGING · ServiceCompat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" y="4608576"/>
            <a:ext cx="8028432" cy="274320"/>
          </a:xfrm>
          <a:prstGeom prst="roundRect">
            <a:avLst>
              <a:gd name="adj" fmla="val 13333"/>
            </a:avLst>
          </a:prstGeom>
          <a:solidFill>
            <a:srgbClr val="F8F8FC"/>
          </a:solidFill>
          <a:ln w="5080">
            <a:solidFill>
              <a:srgbClr val="DDDD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645152"/>
            <a:ext cx="7845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AppContainer (Manual DI): cria SensorDb, SensorRepository, AlarmEngine e ViewModelFactory — injeta via LocalCompositionProvider  |  AGP 9.0 + android.disallowKotlinSourceSets=false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 Android — Interface e Funcionalidades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• Alarmes • Configuracoes — Material3 Teal | modo escuro | badge dinamico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" y="1261872"/>
            <a:ext cx="2633472" cy="2999232"/>
          </a:xfrm>
          <a:prstGeom prst="roundRect">
            <a:avLst>
              <a:gd name="adj" fmla="val 6250"/>
            </a:avLst>
          </a:prstGeom>
          <a:solidFill>
            <a:srgbClr val="12121A"/>
          </a:solidFill>
          <a:ln w="17780">
            <a:solidFill>
              <a:srgbClr val="006A63"/>
            </a:solidFill>
            <a:prstDash val="solid"/>
          </a:ln>
          <a:effectLst>
            <a:outerShdw sx="100000" sy="100000" kx="0" ky="0" algn="bl" rotWithShape="0" blurRad="3.693490459437191e+74" dist="1.477396183774876e+74" dir="4.57019805007872e+87">
              <a:srgbClr val="000000">
                <a:alpha val="9.999999999999999e+88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1572768"/>
            <a:ext cx="2432304" cy="2560320"/>
          </a:xfrm>
          <a:prstGeom prst="roundRect">
            <a:avLst>
              <a:gd name="adj" fmla="val 2256"/>
            </a:avLst>
          </a:prstGeom>
          <a:solidFill>
            <a:srgbClr val="0F1A1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1572768"/>
            <a:ext cx="2432304" cy="274320"/>
          </a:xfrm>
          <a:prstGeom prst="rect">
            <a:avLst/>
          </a:prstGeom>
          <a:solidFill>
            <a:srgbClr val="006A63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" y="1600200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9224" y="190195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lorawan_node_1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" y="224942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  21.7 C   [OK]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9224" y="259689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UMID:  53.6%    [OK]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9224" y="294436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Seq: 4812 | MQTT: 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9224" y="329184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Grafico: linha historico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9224" y="363931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cor: verde/ambar/vermelho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91640" y="1353312"/>
            <a:ext cx="237744" cy="128016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776" y="4434840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" y="437083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Atualizacao em tempo real via MQTT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93776" y="4690872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" y="462686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MetricStatus (OK/LOW/HIGH)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3776" y="4946904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48828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Canvas: ultimos 50 pontos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64408" y="1261872"/>
            <a:ext cx="2633472" cy="2999232"/>
          </a:xfrm>
          <a:prstGeom prst="roundRect">
            <a:avLst>
              <a:gd name="adj" fmla="val 6250"/>
            </a:avLst>
          </a:prstGeom>
          <a:solidFill>
            <a:srgbClr val="12121A"/>
          </a:solidFill>
          <a:ln w="17780">
            <a:solidFill>
              <a:srgbClr val="C62828"/>
            </a:solidFill>
            <a:prstDash val="solid"/>
          </a:ln>
          <a:effectLst>
            <a:outerShdw sx="100000" sy="100000" kx="0" ky="0" algn="bl" rotWithShape="0" blurRad="4.690732883485232e+78" dist="1.8762931533940924e+78" dir="2.742118830047232e+92">
              <a:srgbClr val="000000">
                <a:alpha val="9.999999999999998e+93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64992" y="1572768"/>
            <a:ext cx="2432304" cy="2560320"/>
          </a:xfrm>
          <a:prstGeom prst="roundRect">
            <a:avLst>
              <a:gd name="adj" fmla="val 2256"/>
            </a:avLst>
          </a:prstGeom>
          <a:solidFill>
            <a:srgbClr val="0F1A19"/>
          </a:solidFill>
          <a:ln/>
        </p:spPr>
      </p:sp>
      <p:sp>
        <p:nvSpPr>
          <p:cNvPr id="47" name="Shape 45"/>
          <p:cNvSpPr/>
          <p:nvPr/>
        </p:nvSpPr>
        <p:spPr>
          <a:xfrm>
            <a:off x="3364992" y="1572768"/>
            <a:ext cx="2432304" cy="2743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8" name="Text 46"/>
          <p:cNvSpPr/>
          <p:nvPr/>
        </p:nvSpPr>
        <p:spPr>
          <a:xfrm>
            <a:off x="3401568" y="1600200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419856" y="190195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ativos: 0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419856" y="224942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Max: 30.0 C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19856" y="259689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Min: 10.0 C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419856" y="294436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Umid. Max: 80%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19856" y="329184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Umid. Min: 30%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419856" y="363931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eventos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462272" y="1353312"/>
            <a:ext cx="237744" cy="128016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56" name="Shape 54"/>
          <p:cNvSpPr/>
          <p:nvPr/>
        </p:nvSpPr>
        <p:spPr>
          <a:xfrm>
            <a:off x="3264408" y="443484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7" name="Text 55"/>
          <p:cNvSpPr/>
          <p:nvPr/>
        </p:nvSpPr>
        <p:spPr>
          <a:xfrm>
            <a:off x="3447288" y="437083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de limiares por usuario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264408" y="469087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9" name="Text 57"/>
          <p:cNvSpPr/>
          <p:nvPr/>
        </p:nvSpPr>
        <p:spPr>
          <a:xfrm>
            <a:off x="3447288" y="462686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 push (NotificationCompat)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64408" y="494690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1" name="Text 59"/>
          <p:cNvSpPr/>
          <p:nvPr/>
        </p:nvSpPr>
        <p:spPr>
          <a:xfrm>
            <a:off x="3447288" y="48828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na aba (contador dinamico)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35040" y="1261872"/>
            <a:ext cx="2633472" cy="2999232"/>
          </a:xfrm>
          <a:prstGeom prst="roundRect">
            <a:avLst>
              <a:gd name="adj" fmla="val 6250"/>
            </a:avLst>
          </a:prstGeom>
          <a:solidFill>
            <a:srgbClr val="12121A"/>
          </a:solidFill>
          <a:ln w="17780">
            <a:solidFill>
              <a:srgbClr val="1565C0"/>
            </a:solidFill>
            <a:prstDash val="solid"/>
          </a:ln>
          <a:effectLst>
            <a:outerShdw sx="100000" sy="100000" kx="0" ky="0" algn="bl" rotWithShape="0" blurRad="5.957230762026245e+82" dist="2.3828923048104974e+82" dir="1.6452712980283393e+97">
              <a:srgbClr val="000000">
                <a:alpha val="9.999999999999998e+98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35624" y="1572768"/>
            <a:ext cx="2432304" cy="2560320"/>
          </a:xfrm>
          <a:prstGeom prst="roundRect">
            <a:avLst>
              <a:gd name="adj" fmla="val 2256"/>
            </a:avLst>
          </a:prstGeom>
          <a:solidFill>
            <a:srgbClr val="0F1A19"/>
          </a:solidFill>
          <a:ln/>
        </p:spPr>
      </p:sp>
      <p:sp>
        <p:nvSpPr>
          <p:cNvPr id="64" name="Shape 62"/>
          <p:cNvSpPr/>
          <p:nvPr/>
        </p:nvSpPr>
        <p:spPr>
          <a:xfrm>
            <a:off x="6135624" y="1572768"/>
            <a:ext cx="2432304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5" name="Text 63"/>
          <p:cNvSpPr/>
          <p:nvPr/>
        </p:nvSpPr>
        <p:spPr>
          <a:xfrm>
            <a:off x="6172200" y="1600200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Configuracoes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90488" y="190195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unicamp.au1...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90488" y="224942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AppID: iotdlt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90488" y="259689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Tenant: unicamp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190488" y="294436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Key: *** (DataStore)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90488" y="329184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MQTT: ON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190488" y="363931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 → conectar MQTT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232904" y="1353312"/>
            <a:ext cx="237744" cy="128016"/>
          </a:xfrm>
          <a:prstGeom prst="ellipse">
            <a:avLst/>
          </a:prstGeom>
          <a:solidFill>
            <a:srgbClr val="0A0A15"/>
          </a:solidFill>
          <a:ln/>
        </p:spPr>
      </p:sp>
      <p:sp>
        <p:nvSpPr>
          <p:cNvPr id="73" name="Shape 71"/>
          <p:cNvSpPr/>
          <p:nvPr/>
        </p:nvSpPr>
        <p:spPr>
          <a:xfrm>
            <a:off x="6035040" y="443484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4" name="Text 72"/>
          <p:cNvSpPr/>
          <p:nvPr/>
        </p:nvSpPr>
        <p:spPr>
          <a:xfrm>
            <a:off x="6217920" y="437083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salvas em DataStore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035040" y="469087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6" name="Text 74"/>
          <p:cNvSpPr/>
          <p:nvPr/>
        </p:nvSpPr>
        <p:spPr>
          <a:xfrm>
            <a:off x="6217920" y="462686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nunca hardcodada no codigo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035040" y="494690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8" name="Text 76"/>
          <p:cNvSpPr/>
          <p:nvPr/>
        </p:nvSpPr>
        <p:spPr>
          <a:xfrm>
            <a:off x="6217920" y="488289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Reconexao ao salvar novas configs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Etapas de Construcao do Prototipo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em 4 sprints — hardware, rede, app e integracao final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011680" cy="3200400"/>
          </a:xfrm>
          <a:prstGeom prst="roundRect">
            <a:avLst>
              <a:gd name="adj" fmla="val 3182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26187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5C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1316736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157276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1-2 — Hardware + Ambiente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40080" y="2048256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1956816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do ambiente Android Studio + Gradle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0080" y="2468880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" y="2377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fisica: LoRa32v2 + DHT22 + protoboard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0080" y="2889504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" y="279806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ESP32: leitura DHT22 + display OLED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" y="32186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leitura: temperatura e umidade via Serial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0080" y="3730752"/>
            <a:ext cx="128016" cy="12801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" y="3639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projeto Android (modulos, arquitetura)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1792" y="4114800"/>
            <a:ext cx="1865376" cy="274320"/>
          </a:xfrm>
          <a:prstGeom prst="roundRect">
            <a:avLst>
              <a:gd name="adj" fmla="val 13333"/>
            </a:avLst>
          </a:prstGeom>
          <a:solidFill>
            <a:srgbClr val="5C2D91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133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Node lendo DHT22 e exibindo no OLED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97480" y="1261872"/>
            <a:ext cx="2011680" cy="3200400"/>
          </a:xfrm>
          <a:prstGeom prst="roundRect">
            <a:avLst>
              <a:gd name="adj" fmla="val 3182"/>
            </a:avLst>
          </a:prstGeom>
          <a:solidFill>
            <a:srgbClr val="E0F2F1"/>
          </a:solidFill>
          <a:ln w="10160">
            <a:solidFill>
              <a:srgbClr val="006A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126187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006A63"/>
          </a:solidFill>
          <a:ln/>
        </p:spPr>
      </p:sp>
      <p:sp>
        <p:nvSpPr>
          <p:cNvPr id="46" name="Text 44"/>
          <p:cNvSpPr/>
          <p:nvPr/>
        </p:nvSpPr>
        <p:spPr>
          <a:xfrm>
            <a:off x="2770632" y="1316736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70632" y="157276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2-3 — LoRaWAN + TTI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88920" y="2048256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49" name="Text 47"/>
          <p:cNvSpPr/>
          <p:nvPr/>
        </p:nvSpPr>
        <p:spPr>
          <a:xfrm>
            <a:off x="2953512" y="1956816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dispositivo no TTI (AppID iotdlt, unicamp)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88920" y="2468880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1" name="Text 49"/>
          <p:cNvSpPr/>
          <p:nvPr/>
        </p:nvSpPr>
        <p:spPr>
          <a:xfrm>
            <a:off x="2953512" y="2377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OTAA: DevEUI, AppEUI, AppKey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88920" y="2889504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3" name="Text 51"/>
          <p:cNvSpPr/>
          <p:nvPr/>
        </p:nvSpPr>
        <p:spPr>
          <a:xfrm>
            <a:off x="2953512" y="279806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Dragino LPS8: configuracao AU915 sub-banda 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88920" y="3310128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5" name="Text 53"/>
          <p:cNvSpPr/>
          <p:nvPr/>
        </p:nvSpPr>
        <p:spPr>
          <a:xfrm>
            <a:off x="2953512" y="32186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Codificacao payload: 4 bytes (seq, temp x10, hum x2)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788920" y="3730752"/>
            <a:ext cx="128016" cy="12801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57" name="Text 55"/>
          <p:cNvSpPr/>
          <p:nvPr/>
        </p:nvSpPr>
        <p:spPr>
          <a:xfrm>
            <a:off x="2953512" y="3639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Formatter JS no TTI com decodificacao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70632" y="4114800"/>
            <a:ext cx="1865376" cy="274320"/>
          </a:xfrm>
          <a:prstGeom prst="roundRect">
            <a:avLst>
              <a:gd name="adj" fmla="val 13333"/>
            </a:avLst>
          </a:prstGeom>
          <a:solidFill>
            <a:srgbClr val="006A63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2788920" y="4133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Dado chegando no TTI console com JSON correto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846320" y="1261872"/>
            <a:ext cx="2011680" cy="3200400"/>
          </a:xfrm>
          <a:prstGeom prst="roundRect">
            <a:avLst>
              <a:gd name="adj" fmla="val 3182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46320" y="126187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1565C0"/>
          </a:solidFill>
          <a:ln/>
        </p:spPr>
      </p:sp>
      <p:sp>
        <p:nvSpPr>
          <p:cNvPr id="62" name="Text 60"/>
          <p:cNvSpPr/>
          <p:nvPr/>
        </p:nvSpPr>
        <p:spPr>
          <a:xfrm>
            <a:off x="4919472" y="1316736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19472" y="157276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3-4 — App Android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937760" y="2048256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5" name="Text 63"/>
          <p:cNvSpPr/>
          <p:nvPr/>
        </p:nvSpPr>
        <p:spPr>
          <a:xfrm>
            <a:off x="5102352" y="1956816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2.7 + KSP: entidades SensorReading, AlarmRule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937760" y="246888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7" name="Text 65"/>
          <p:cNvSpPr/>
          <p:nvPr/>
        </p:nvSpPr>
        <p:spPr>
          <a:xfrm>
            <a:off x="5102352" y="2377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Preferences: armazenamento de credenciais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937760" y="288950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9" name="Text 67"/>
          <p:cNvSpPr/>
          <p:nvPr/>
        </p:nvSpPr>
        <p:spPr>
          <a:xfrm>
            <a:off x="5102352" y="279806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TtnMqttClient: conexao HiveMQ TLS porta 8883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37760" y="331012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1" name="Text 69"/>
          <p:cNvSpPr/>
          <p:nvPr/>
        </p:nvSpPr>
        <p:spPr>
          <a:xfrm>
            <a:off x="5102352" y="32186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(Compose): cards + grafico Canvas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937760" y="3730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3" name="Text 71"/>
          <p:cNvSpPr/>
          <p:nvPr/>
        </p:nvSpPr>
        <p:spPr>
          <a:xfrm>
            <a:off x="5102352" y="3639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alarmes: AlarmEngine + notificacoes push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919472" y="4114800"/>
            <a:ext cx="1865376" cy="274320"/>
          </a:xfrm>
          <a:prstGeom prst="roundRect">
            <a:avLst>
              <a:gd name="adj" fmla="val 13333"/>
            </a:avLst>
          </a:prstGeom>
          <a:solidFill>
            <a:srgbClr val="1565C0">
              <a:alpha val="8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0" y="4133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App conectando ao MQTT e exibindo dados simulados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995160" y="1261872"/>
            <a:ext cx="2011680" cy="3200400"/>
          </a:xfrm>
          <a:prstGeom prst="roundRect">
            <a:avLst>
              <a:gd name="adj" fmla="val 3182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95160" y="126187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C62828"/>
          </a:solidFill>
          <a:ln/>
        </p:spPr>
      </p:sp>
      <p:sp>
        <p:nvSpPr>
          <p:cNvPr id="78" name="Text 76"/>
          <p:cNvSpPr/>
          <p:nvPr/>
        </p:nvSpPr>
        <p:spPr>
          <a:xfrm>
            <a:off x="7068312" y="1316736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068312" y="1572768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4-5 — Integracao + Testes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086600" y="2048256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1" name="Text 79"/>
          <p:cNvSpPr/>
          <p:nvPr/>
        </p:nvSpPr>
        <p:spPr>
          <a:xfrm>
            <a:off x="7251192" y="1956816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ponta-a-ponta com dados reais (nodo-2)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086600" y="246888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3" name="Text 81"/>
          <p:cNvSpPr/>
          <p:nvPr/>
        </p:nvSpPr>
        <p:spPr>
          <a:xfrm>
            <a:off x="7251192" y="237744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Android 15: FOREGROUND_SERVICE_REMOTE_MESSAGING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086600" y="288950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5" name="Text 83"/>
          <p:cNvSpPr/>
          <p:nvPr/>
        </p:nvSpPr>
        <p:spPr>
          <a:xfrm>
            <a:off x="7251192" y="2798064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Refinamento UI: tema Material3 Teal, modo escuro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086600" y="331012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7" name="Text 85"/>
          <p:cNvSpPr/>
          <p:nvPr/>
        </p:nvSpPr>
        <p:spPr>
          <a:xfrm>
            <a:off x="7251192" y="3218688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 API 26, API 30 e API 35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86600" y="3730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9" name="Text 87"/>
          <p:cNvSpPr/>
          <p:nvPr/>
        </p:nvSpPr>
        <p:spPr>
          <a:xfrm>
            <a:off x="7251192" y="3639312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Validacao: 21.7°C, 53.6% RH, seq 4812 confirmados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068312" y="4114800"/>
            <a:ext cx="1865376" cy="274320"/>
          </a:xfrm>
          <a:prstGeom prst="roundRect">
            <a:avLst>
              <a:gd name="adj" fmla="val 13333"/>
            </a:avLst>
          </a:prstGeom>
          <a:solidFill>
            <a:srgbClr val="C62828">
              <a:alpha val="8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7086600" y="41330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Sistema operacional com dados reais do nodo-2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48640" y="4553712"/>
            <a:ext cx="8412480" cy="3657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3" name="Text 91"/>
          <p:cNvSpPr/>
          <p:nvPr/>
        </p:nvSpPr>
        <p:spPr>
          <a:xfrm>
            <a:off x="548640" y="46268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435608" y="4526280"/>
            <a:ext cx="109728" cy="109728"/>
          </a:xfrm>
          <a:prstGeom prst="ellipse">
            <a:avLst/>
          </a:prstGeom>
          <a:solidFill>
            <a:srgbClr val="6B6B8A"/>
          </a:solidFill>
          <a:ln/>
        </p:spPr>
      </p:sp>
      <p:sp>
        <p:nvSpPr>
          <p:cNvPr id="95" name="Text 93"/>
          <p:cNvSpPr/>
          <p:nvPr/>
        </p:nvSpPr>
        <p:spPr>
          <a:xfrm>
            <a:off x="1207008" y="46634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Jun/09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3584448" y="4526280"/>
            <a:ext cx="109728" cy="109728"/>
          </a:xfrm>
          <a:prstGeom prst="ellipse">
            <a:avLst/>
          </a:prstGeom>
          <a:solidFill>
            <a:srgbClr val="6B6B8A"/>
          </a:solidFill>
          <a:ln/>
        </p:spPr>
      </p:sp>
      <p:sp>
        <p:nvSpPr>
          <p:cNvPr id="97" name="Text 95"/>
          <p:cNvSpPr/>
          <p:nvPr/>
        </p:nvSpPr>
        <p:spPr>
          <a:xfrm>
            <a:off x="3355848" y="46634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Jun/16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733288" y="4526280"/>
            <a:ext cx="109728" cy="109728"/>
          </a:xfrm>
          <a:prstGeom prst="ellipse">
            <a:avLst/>
          </a:prstGeom>
          <a:solidFill>
            <a:srgbClr val="6B6B8A"/>
          </a:solidFill>
          <a:ln/>
        </p:spPr>
      </p:sp>
      <p:sp>
        <p:nvSpPr>
          <p:cNvPr id="99" name="Text 97"/>
          <p:cNvSpPr/>
          <p:nvPr/>
        </p:nvSpPr>
        <p:spPr>
          <a:xfrm>
            <a:off x="5504688" y="46634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Jun/23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882128" y="4526280"/>
            <a:ext cx="109728" cy="109728"/>
          </a:xfrm>
          <a:prstGeom prst="ellipse">
            <a:avLst/>
          </a:prstGeom>
          <a:solidFill>
            <a:srgbClr val="6B6B8A"/>
          </a:solidFill>
          <a:ln/>
        </p:spPr>
      </p:sp>
      <p:sp>
        <p:nvSpPr>
          <p:cNvPr id="101" name="Text 99"/>
          <p:cNvSpPr/>
          <p:nvPr/>
        </p:nvSpPr>
        <p:spPr>
          <a:xfrm>
            <a:off x="7653528" y="46634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Jun/30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Desafios Tecnicos — Parte 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15 FGS + reconexao automatica MQTT + compatibilidade KSP/AGP 9.0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3B1A6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12984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Android 15 (API 35) — FGS Timeout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1591056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FFEBEE"/>
          </a:solidFill>
          <a:ln w="762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165506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190195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FOREGROUND_SERVICE_TYPE_DATA_SYNC foi depreciado no Android 15 causando ForegroundServiceStartNotAllowedException ao iniciar o servico MQTT em background. O processo era encerrado pelo sistema com timeout.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01568" y="1591056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165506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11296" y="190195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Alterado para FOREGROUND_SERVICE_TYPE_REMOTE_MESSAGING no manifest e uso de ServiceCompat.startForeground() com tipo condicional por versao do SDK (API 34+, API 26-33, else 0).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54496" y="1591056"/>
            <a:ext cx="2706624" cy="1481328"/>
          </a:xfrm>
          <a:prstGeom prst="roundRect">
            <a:avLst>
              <a:gd name="adj" fmla="val 3704"/>
            </a:avLst>
          </a:prstGeom>
          <a:solidFill>
            <a:srgbClr val="1E1E2E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1664208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fgsType = when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SDK &gt;= UPSIDE_DOWN_CAKE -&gt; REMOTE_MESSAGING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SDK &gt;= O -&gt; DATA_SYNC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-&gt; 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ServiceCompat.startForeground(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this, NOTIF_ID, notif, fgsType)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" y="318211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3B1A6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3218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KSP + AGP 9.0 — Incompatibilidade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3511296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FFEBEE"/>
          </a:solidFill>
          <a:ln w="762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57530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" y="382219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Gradle Plugin 9.0 passou a usar source sets Kotlin separados por padrao, causando conflito com o KSP (Kotlin Symbol Processing) utilizado pelo Room 2.7. Erro: 'KSP can only process Kotlin sources'.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01568" y="3511296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357530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11296" y="382219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Adicao do flag android.disallowKotlinSourceSets=false no gradle.properties para restaurar o comportamento de source sets unificados, compativel com KSP 2.1.0-1.0.29.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54496" y="3511296"/>
            <a:ext cx="2706624" cy="1481328"/>
          </a:xfrm>
          <a:prstGeom prst="roundRect">
            <a:avLst>
              <a:gd name="adj" fmla="val 3704"/>
            </a:avLst>
          </a:prstGeom>
          <a:solidFill>
            <a:srgbClr val="1E1E2E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584448"/>
            <a:ext cx="25420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gradle.properties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android.disallowKotlinSourceSets=false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build.gradle.kts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ksp { version = "2.1.0-1.0.29" }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Desafios Tecnicos — Parte 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reconexao + payload encoding + LoRaWAN OTAA join failure no AU915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3B1A6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12893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MQTT — Perda de Conexao e Reconexao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1536192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15819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17739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perder conexao Wi-Fi ou de rede, o HiveMQ nao resubscrevia automaticamente ao topico apos reconectar, resultando em dados perdidos silenciosamente.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01568" y="1536192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15819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93008" y="17739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callback onConnectionSuccess() que resubscreve ao topico v3/{app}@{tenant}/devices/+/up apos cada reconexao bem-sucedida. Auto-reconnect configurado no MqttClientBuilder.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54496" y="1536192"/>
            <a:ext cx="2706624" cy="841248"/>
          </a:xfrm>
          <a:prstGeom prst="roundRect">
            <a:avLst>
              <a:gd name="adj" fmla="val 5435"/>
            </a:avLst>
          </a:prstGeom>
          <a:solidFill>
            <a:srgbClr val="1E1E2E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158191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client.toAsync().connect()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.whenComplete { _, err -&gt;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 == null)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subscribe(topic, QoS.AT_MOST_ONCE)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48640" y="2468880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3B1A6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24963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— Payload Encoding — Precisao de Ponto Flutuante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2743200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788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29809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negativas e valores com decimal causavam overflow na codificacao de 1 byte. Ex: -5.3°C como uint8 resultava em 251 (complemento), corrompendo os dados no app.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01568" y="2743200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2788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93008" y="298094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offset de 40°C no encoder (range -40 a +125 configuravel) e fator de escala 10x em 2 bytes big-endian para temperatura. Umidade em 1 byte com fator 2x (range 0-100%).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254496" y="2743200"/>
            <a:ext cx="2706624" cy="841248"/>
          </a:xfrm>
          <a:prstGeom prst="roundRect">
            <a:avLst>
              <a:gd name="adj" fmla="val 5435"/>
            </a:avLst>
          </a:prstGeom>
          <a:solidFill>
            <a:srgbClr val="1E1E2E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278892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Encoder (ESP32)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t = (uint16_t)((temp+40)*10);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buf[1] = t &gt;&gt; 8;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buf[2] = t &amp; 0xFF;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buf[3] = (uint8_t)(hum*2);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Decoder (TTI JS)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temp: (((b[1]&lt;&lt;8)|b[2])/10.0)-40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8640" y="3675888"/>
            <a:ext cx="8412480" cy="237744"/>
          </a:xfrm>
          <a:prstGeom prst="roundRect">
            <a:avLst>
              <a:gd name="adj" fmla="val 15385"/>
            </a:avLst>
          </a:prstGeom>
          <a:solidFill>
            <a:srgbClr val="3B1A68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3703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LoRaWAN OTAA — Join Failure em AU915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3950208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39959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0080" y="418795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 nao conseguia realizar o join OTAA. Mesmo com credenciais corretas, o Join Accept nao era recebido. Causa: channel mask incorreto para a sub-banda 2 do AU915.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01568" y="3950208"/>
            <a:ext cx="2743200" cy="841248"/>
          </a:xfrm>
          <a:prstGeom prst="roundRect">
            <a:avLst>
              <a:gd name="adj" fmla="val 5435"/>
            </a:avLst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93008" y="39959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Solucao: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493008" y="418795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Configurada corretamente a mascara de canais AU915 Sub-Banda 2 (canais 8-15 uplink + canal 70 downlink) na biblioteca LoRaWAN do ESP32. Apos correcao, join bem-sucedido em &lt;30s.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54496" y="3950208"/>
            <a:ext cx="2706624" cy="841248"/>
          </a:xfrm>
          <a:prstGeom prst="roundRect">
            <a:avLst>
              <a:gd name="adj" fmla="val 5435"/>
            </a:avLst>
          </a:prstGeom>
          <a:solidFill>
            <a:srgbClr val="1E1E2E"/>
          </a:solidFill>
          <a:ln/>
        </p:spPr>
      </p:sp>
      <p:sp>
        <p:nvSpPr>
          <p:cNvPr id="57" name="Text 55"/>
          <p:cNvSpPr/>
          <p:nvPr/>
        </p:nvSpPr>
        <p:spPr>
          <a:xfrm>
            <a:off x="6327648" y="3995928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Configuracao AU915 Sub-Banda 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channelMask[0] = 0x0000;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channelMask[1] = 0x00FF;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Habilita canais 8-15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Disable canais 0-7, 16-71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DD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loraWAN.setChannelMask(mask);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48640" y="4846320"/>
            <a:ext cx="8412480" cy="201168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 w="508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873752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desafios foram resolvidos — sistema funcional com dados reais (21.7°C, 53.6% RH, seq 4812) confirmados em producao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" cy="10424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025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2025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2025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22592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22592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24928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4928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24928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27264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27264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31936" y="146304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493776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841248"/>
            <a:ext cx="82296" cy="82296"/>
          </a:xfrm>
          <a:prstGeom prst="ellipse">
            <a:avLst/>
          </a:prstGeom>
          <a:solidFill>
            <a:srgbClr val="5C2D9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91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9144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Prototipo Validado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9875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end-to-end operacional com dados reais de lorawan_node_1 via TTI UNICAMP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1261872"/>
            <a:ext cx="2011680" cy="1078992"/>
          </a:xfrm>
          <a:prstGeom prst="roundRect">
            <a:avLst>
              <a:gd name="adj" fmla="val 5932"/>
            </a:avLst>
          </a:prstGeom>
          <a:solidFill>
            <a:srgbClr val="F3F0FA"/>
          </a:solidFill>
          <a:ln w="12700">
            <a:solidFill>
              <a:srgbClr val="006A63"/>
            </a:solidFill>
            <a:prstDash val="solid"/>
          </a:ln>
          <a:effectLst>
            <a:outerShdw sx="100000" sy="100000" kx="0" ky="0" algn="bl" rotWithShape="0" blurRad="7.565683067773332e+86" dist="3.0262732271093317e+86" dir="9.871627788170037e+101">
              <a:srgbClr val="000000">
                <a:alpha val="9.999999999999998e+103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131673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" y="14996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C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3504" y="1993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97480" y="1261872"/>
            <a:ext cx="2011680" cy="1078992"/>
          </a:xfrm>
          <a:prstGeom prst="roundRect">
            <a:avLst>
              <a:gd name="adj" fmla="val 5932"/>
            </a:avLst>
          </a:prstGeom>
          <a:solidFill>
            <a:srgbClr val="F3F0FA"/>
          </a:solidFill>
          <a:ln w="12700">
            <a:solidFill>
              <a:srgbClr val="006A63"/>
            </a:solidFill>
            <a:prstDash val="solid"/>
          </a:ln>
          <a:effectLst>
            <a:outerShdw sx="100000" sy="100000" kx="0" ky="0" algn="bl" rotWithShape="0" blurRad="9.608417496072131e+90" dist="3.8433669984288512e+90" dir="5.9229766729020215e+106">
              <a:srgbClr val="000000">
                <a:alpha val="9.999999999999998e+108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131673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 Rel.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52344" y="14996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752344" y="1993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1261872"/>
            <a:ext cx="2011680" cy="1078992"/>
          </a:xfrm>
          <a:prstGeom prst="roundRect">
            <a:avLst>
              <a:gd name="adj" fmla="val 5932"/>
            </a:avLst>
          </a:prstGeom>
          <a:solidFill>
            <a:srgbClr val="F3F0F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.2202690220011606e+95" dist="4.8810760880046414e+94" dir="3.553786003741213e+111">
              <a:srgbClr val="000000">
                <a:alpha val="9.999999999999997e+113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01184" y="131673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Seq. Uplinks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01184" y="14996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901184" y="1993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95160" y="1261872"/>
            <a:ext cx="2011680" cy="1078992"/>
          </a:xfrm>
          <a:prstGeom prst="roundRect">
            <a:avLst>
              <a:gd name="adj" fmla="val 5932"/>
            </a:avLst>
          </a:prstGeom>
          <a:solidFill>
            <a:srgbClr val="F3F0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.549741657941474e+99" dist="6.198966631765894e+98" dir="2.1322716022447277e+116">
              <a:srgbClr val="000000">
                <a:alpha val="9.999999999999998e+118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050024" y="1316736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E2E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50024" y="14996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50024" y="1993392"/>
            <a:ext cx="1901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8640" y="2468880"/>
            <a:ext cx="4160520" cy="2395728"/>
          </a:xfrm>
          <a:prstGeom prst="roundRect">
            <a:avLst>
              <a:gd name="adj" fmla="val 2672"/>
            </a:avLst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25420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Atendidos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8368" y="2889504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28895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77824" y="283464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DHT22 em tempo real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8368" y="3145536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314553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77824" y="3090672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Transmissao LoRaWAN OTAA AU915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8368" y="3401568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34015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77824" y="3346704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Decodificacao payload no TTI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58368" y="365760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36576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77824" y="3602736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Android + grafico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8368" y="3913632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" y="39136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77824" y="3858768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configurados + notificacoes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58368" y="4169664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2" name="Text 60"/>
          <p:cNvSpPr/>
          <p:nvPr/>
        </p:nvSpPr>
        <p:spPr>
          <a:xfrm>
            <a:off x="658368" y="41696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77824" y="4114800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15 compativel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58368" y="4425696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5" name="Text 63"/>
          <p:cNvSpPr/>
          <p:nvPr/>
        </p:nvSpPr>
        <p:spPr>
          <a:xfrm>
            <a:off x="658368" y="44256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77824" y="4370832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seguras (DataStore)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8368" y="4681728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8" name="Text 66"/>
          <p:cNvSpPr/>
          <p:nvPr/>
        </p:nvSpPr>
        <p:spPr>
          <a:xfrm>
            <a:off x="658368" y="46817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77824" y="4626864"/>
            <a:ext cx="3730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validados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92040" y="2468880"/>
            <a:ext cx="3913632" cy="2395728"/>
          </a:xfrm>
          <a:prstGeom prst="roundRect">
            <a:avLst>
              <a:gd name="adj" fmla="val 2672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01768" y="2542032"/>
            <a:ext cx="3694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do Curso Cobertos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001768" y="2889504"/>
            <a:ext cx="219456" cy="219456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73" name="Text 71"/>
          <p:cNvSpPr/>
          <p:nvPr/>
        </p:nvSpPr>
        <p:spPr>
          <a:xfrm>
            <a:off x="5001768" y="28895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M1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266944" y="2834640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001768" y="3227832"/>
            <a:ext cx="219456" cy="21945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76" name="Text 74"/>
          <p:cNvSpPr/>
          <p:nvPr/>
        </p:nvSpPr>
        <p:spPr>
          <a:xfrm>
            <a:off x="5001768" y="3227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M2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266944" y="3172968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Basico e Ferramentas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001768" y="3566160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9" name="Text 77"/>
          <p:cNvSpPr/>
          <p:nvPr/>
        </p:nvSpPr>
        <p:spPr>
          <a:xfrm>
            <a:off x="5001768" y="35661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266944" y="3511296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01768" y="3904488"/>
            <a:ext cx="219456" cy="219456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82" name="Text 80"/>
          <p:cNvSpPr/>
          <p:nvPr/>
        </p:nvSpPr>
        <p:spPr>
          <a:xfrm>
            <a:off x="5001768" y="3904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M4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266944" y="3849624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Embarcado e Framework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001768" y="4242816"/>
            <a:ext cx="219456" cy="21945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5" name="Text 83"/>
          <p:cNvSpPr/>
          <p:nvPr/>
        </p:nvSpPr>
        <p:spPr>
          <a:xfrm>
            <a:off x="5001768" y="4242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M5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266944" y="4187952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Sem Fio (LoRaWAN)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001768" y="4581144"/>
            <a:ext cx="219456" cy="219456"/>
          </a:xfrm>
          <a:prstGeom prst="ellipse">
            <a:avLst/>
          </a:prstGeom>
          <a:solidFill>
            <a:srgbClr val="006A63"/>
          </a:solidFill>
          <a:ln/>
        </p:spPr>
      </p:sp>
      <p:sp>
        <p:nvSpPr>
          <p:cNvPr id="88" name="Text 86"/>
          <p:cNvSpPr/>
          <p:nvPr/>
        </p:nvSpPr>
        <p:spPr>
          <a:xfrm>
            <a:off x="5001768" y="4581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M6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266944" y="4526280"/>
            <a:ext cx="3438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3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IoT (TTI)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31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24144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24144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24144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24144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24144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44768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44768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44768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44768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65392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65392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86016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86016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86016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86016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06640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06640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27264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827264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827264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827264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827264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247888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47888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47888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47888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47888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68512" y="73152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68512" y="493776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68512" y="914400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68512" y="1335024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668512" y="1755648"/>
            <a:ext cx="82296" cy="82296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4747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50292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Discussao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98080" y="1097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UNICAMP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2920" y="24871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Inteligente de Ambientes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502920" y="2852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Andres Arteaga Lopez  |  Junho 2026  |  Curso Android IoT Embarcado — UNICAMP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3255264"/>
            <a:ext cx="2029968" cy="804672"/>
          </a:xfrm>
          <a:prstGeom prst="roundRect">
            <a:avLst>
              <a:gd name="adj" fmla="val 7955"/>
            </a:avLst>
          </a:prstGeom>
          <a:solidFill>
            <a:srgbClr val="FFEBEE"/>
          </a:solidFill>
          <a:ln w="10160">
            <a:solidFill>
              <a:srgbClr val="C62828"/>
            </a:solidFill>
            <a:prstDash val="solid"/>
          </a:ln>
          <a:effectLst>
            <a:outerShdw sx="100000" sy="100000" kx="0" ky="0" algn="bl" rotWithShape="0" blurRad="1.9681719055856718e+103" dist="7.872687622342685e+102" dir="1.2793629613468366e+121">
              <a:srgbClr val="000000">
                <a:alpha val="9.999999999999997e+123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3255264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Desafios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70048" y="3255264"/>
            <a:ext cx="2029968" cy="804672"/>
          </a:xfrm>
          <a:prstGeom prst="roundRect">
            <a:avLst>
              <a:gd name="adj" fmla="val 7955"/>
            </a:avLst>
          </a:prstGeom>
          <a:solidFill>
            <a:srgbClr val="EDE7F6"/>
          </a:solidFill>
          <a:ln w="10160">
            <a:solidFill>
              <a:srgbClr val="5C2D91"/>
            </a:solidFill>
            <a:prstDash val="solid"/>
          </a:ln>
          <a:effectLst>
            <a:outerShdw sx="100000" sy="100000" kx="0" ky="0" algn="bl" rotWithShape="0" blurRad="2.4995783200938032e+107" dist="9.998313280375211e+106" dir="7.67617776808102e+125">
              <a:srgbClr val="000000">
                <a:alpha val="9.999999999999997e+128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670048" y="3255264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Concluidos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37176" y="3255264"/>
            <a:ext cx="2029968" cy="804672"/>
          </a:xfrm>
          <a:prstGeom prst="roundRect">
            <a:avLst>
              <a:gd name="adj" fmla="val 7955"/>
            </a:avLst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3.17446446651913e+111" dist="1.2697857866076517e+111" dir="4.605706660848612e+130">
              <a:srgbClr val="000000">
                <a:alpha val="9.999999999999997e+133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37176" y="3255264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04304" y="3255264"/>
            <a:ext cx="2029968" cy="804672"/>
          </a:xfrm>
          <a:prstGeom prst="roundRect">
            <a:avLst>
              <a:gd name="adj" fmla="val 7955"/>
            </a:avLst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  <a:effectLst>
            <a:outerShdw sx="100000" sy="100000" kx="0" ky="0" algn="bl" rotWithShape="0" blurRad="4.0315698724792955e+115" dist="1.6126279489917177e+115" dir="2.763423996509167e+135">
              <a:srgbClr val="000000">
                <a:alpha val="9.999999999999998e+138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004304" y="3255264"/>
            <a:ext cx="20299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42062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3F0F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2611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Kotlin 2.1 · Jetpack Compose · Room 2.7 · HiveMQ MQTT 1.3.3 · LoRaWAN AU915 · The Things Industries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AndroidStudioProjects/environmental_monitoring  |  Android 8.0+ (API 26+)  |  Testado ate API 35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503920" y="490118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Detalhamento Tecnico — Monitoramento Inteligente de Ambientes</dc:title>
  <dc:subject>PptxGenJS Presentation</dc:subject>
  <dc:creator>Edison Andres Arteaga Lopez</dc:creator>
  <cp:lastModifiedBy>Edison Andres Arteaga Lopez</cp:lastModifiedBy>
  <cp:revision>1</cp:revision>
  <dcterms:created xsi:type="dcterms:W3CDTF">2026-06-19T01:59:43Z</dcterms:created>
  <dcterms:modified xsi:type="dcterms:W3CDTF">2026-06-19T01:59:43Z</dcterms:modified>
</cp:coreProperties>
</file>