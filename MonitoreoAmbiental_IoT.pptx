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A2625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A2625"/>
                </a:solidFill>
                <a:latin typeface="Arial"/>
              </a:rPr>
              <a:t>Temperatura — nodo-2 (valores reales)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Temperatura (°C)</c:v>
                </c:pt>
              </c:strCache>
            </c:strRef>
          </c:tx>
          <c:spPr>
            <a:solidFill>
              <a:srgbClr val="006A63"/>
            </a:solidFill>
            <a:ln w="31750" cap="flat">
              <a:solidFill>
                <a:srgbClr val="006A6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6A63"/>
              </a:solidFill>
              <a:ln w="9525" cap="flat">
                <a:solidFill>
                  <a:srgbClr val="006A6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10:00</c:v>
                  </c:pt>
                  <c:pt idx="1">
                    <c:v>10:10</c:v>
                  </c:pt>
                  <c:pt idx="2">
                    <c:v>10:20</c:v>
                  </c:pt>
                  <c:pt idx="3">
                    <c:v>10:30</c:v>
                  </c:pt>
                  <c:pt idx="4">
                    <c:v>10:40</c:v>
                  </c:pt>
                  <c:pt idx="5">
                    <c:v>10:50</c:v>
                  </c:pt>
                  <c:pt idx="6">
                    <c:v>11:00</c:v>
                  </c:pt>
                  <c:pt idx="7">
                    <c:v>11:10</c:v>
                  </c:pt>
                  <c:pt idx="8">
                    <c:v>11:20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21</c:v>
                </c:pt>
                <c:pt idx="1">
                  <c:v>21.3</c:v>
                </c:pt>
                <c:pt idx="2">
                  <c:v>21.7</c:v>
                </c:pt>
                <c:pt idx="3">
                  <c:v>22.1</c:v>
                </c:pt>
                <c:pt idx="4">
                  <c:v>21.9</c:v>
                </c:pt>
                <c:pt idx="5">
                  <c:v>21.5</c:v>
                </c:pt>
                <c:pt idx="6">
                  <c:v>21.2</c:v>
                </c:pt>
                <c:pt idx="7">
                  <c:v>21.7</c:v>
                </c:pt>
                <c:pt idx="8">
                  <c:v>21.8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D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3"/>
          <c:min val="20"/>
        </c:scaling>
        <c:delete val="0"/>
        <c:axPos val="l"/>
        <c:majorGridlines>
          <c:spPr>
            <a:ln w="6350" cap="flat">
              <a:solidFill>
                <a:srgbClr val="E0F2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D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A2625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A2625"/>
                </a:solidFill>
                <a:latin typeface="Arial"/>
              </a:rPr>
              <a:t>Humedad — nodo-2 (valores reales)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Humedad (% RH)</c:v>
                </c:pt>
              </c:strCache>
            </c:strRef>
          </c:tx>
          <c:spPr>
            <a:solidFill>
              <a:srgbClr val="0097A7"/>
            </a:solidFill>
            <a:ln w="31750" cap="flat">
              <a:solidFill>
                <a:srgbClr val="0097A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97A7"/>
              </a:solidFill>
              <a:ln w="9525" cap="flat">
                <a:solidFill>
                  <a:srgbClr val="0097A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10:00</c:v>
                  </c:pt>
                  <c:pt idx="1">
                    <c:v>10:10</c:v>
                  </c:pt>
                  <c:pt idx="2">
                    <c:v>10:20</c:v>
                  </c:pt>
                  <c:pt idx="3">
                    <c:v>10:30</c:v>
                  </c:pt>
                  <c:pt idx="4">
                    <c:v>10:40</c:v>
                  </c:pt>
                  <c:pt idx="5">
                    <c:v>10:50</c:v>
                  </c:pt>
                  <c:pt idx="6">
                    <c:v>11:00</c:v>
                  </c:pt>
                  <c:pt idx="7">
                    <c:v>11:10</c:v>
                  </c:pt>
                  <c:pt idx="8">
                    <c:v>11:20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52</c:v>
                </c:pt>
                <c:pt idx="1">
                  <c:v>52.6</c:v>
                </c:pt>
                <c:pt idx="2">
                  <c:v>53.1</c:v>
                </c:pt>
                <c:pt idx="3">
                  <c:v>53.6</c:v>
                </c:pt>
                <c:pt idx="4">
                  <c:v>53.8</c:v>
                </c:pt>
                <c:pt idx="5">
                  <c:v>54</c:v>
                </c:pt>
                <c:pt idx="6">
                  <c:v>53.5</c:v>
                </c:pt>
                <c:pt idx="7">
                  <c:v>52.9</c:v>
                </c:pt>
                <c:pt idx="8">
                  <c:v>53.6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D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6"/>
          <c:min val="50"/>
        </c:scaling>
        <c:delete val="0"/>
        <c:axPos val="l"/>
        <c:majorGridlines>
          <c:spPr>
            <a:ln w="6350" cap="flat">
              <a:solidFill>
                <a:srgbClr val="E0F2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D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 de portada. Presentar el proyecto: app nativa Android para monitoreo de temperatura y humedad usando nodos LoRaWAN conectados a The Things Industries.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Motivación: el monitoreo manual es insuficiente. LoRaWAN resuelve la conectividad en campo, TTI es el servidor de red y la app Android es la interfaz de usuario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el objetivo general: app Android que cierra el ciclo desde el nodo físico hasta la notificación al usuario. Los 6 objetivos específicos mapean directamente a los módulos de la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Arquitectura de extremo a extremo. El nodo LoRaWAN transmite por radiofrecuencia al gateway, que sube los datos a TTI. TTI los publica en el broker MQTT y la app Android los consume mediante una conexión MQTT/TLS persistente en un Foreground Service.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nodo utiliza LoRaWAN Clase A, que significa mínimo consumo: el dispositivo solo recibe durante dos ventanas cortas después de cada transmisión. El payload binario de 8 bytes se decodifica en TTI mediante un formatter JavaScript que produce temp y hum como floats.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TTI actúa como Network Server y Application Server. El API Key se almacena en DataStore Preferences cifrado del SO, no en el código fuente. La suscripción usa wildcard + para recibir de todos los dispositivos de la aplicación.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usa un patrón MVVM simplificado con repositorios. No se usa Hilt — la inyección de dependencias es manual a través de AppContainer, un singleton inicializado en Application. Esto simplifica el setup y es adecuado para proyectos de investigación.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punto más importante del stack: HiveMQ Client es la única dependencia MQTT de alta calidad compatible con Android + TLS. Room 2.7.0 requiere KSP 2.1.0-1.0.29 y la flag android.disallowKotlinSourceSets=false en AGP 9.0.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dashboard usa StateFlow en el ViewModel. Cada tarjeta de dispositivo evalúa MetricStatus: OK cuando el valor está entre los umbrales, BAJO o ALTO fuera de rango. El color cambia automáticamente. Los gráficos usan un Canvas Composable personalizado con líneas de umbral y zona sombreada.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cooldown es crítico para no saturar al usuario con notificaciones. La lógica está en MqttForegroundService.checkThresholds(). Se consulta la última alarma del mismo tipo por dispositivo en Room y si no han pasado 5 minutos se omite.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fue el bug más difícil del proyecto. Android 15 cambió las políticas de Foreground Service: DATA_SYNC ya no es válido para conexiones de red/MQTT. REMOTE_MESSAGING es el tipo correcto para servicios que mantienen conexiones de mensajería en tiempo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Datos reales capturados del dispositivo lorawan_node_1 (aparece como nodo-2 en TTI) durante las pruebas. Temperatura estable ~21.7°C y humedad ~53.6% en el entorno de laboratorio. La app recibió y mostró los datos en tiempo real sin pérdidas.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Enfatizar que el proyecto cerró un ciclo completo de IoT, resolviendo desafíos reales de la plataforma Android (API 35, FGS, permisos). El código fuente está disponible y la arquitectura es reproducible.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Preguntas y respuestas. Si hay tiempo, hacer una demo en vivo con el dispositivo lorawan_node_1 transmitiendo y ver los datos aparecer en la app en tiempo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6A63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B8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ESTATAL DE CAMPINAS · IoT &amp; Redes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4DDB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Monitoreo Ambiental IoT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8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Android Nativa con LoRaWAN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B8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The Things Industries (TTI)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286000" y="3200400"/>
            <a:ext cx="4572000" cy="0"/>
          </a:xfrm>
          <a:prstGeom prst="line">
            <a:avLst/>
          </a:prstGeom>
          <a:noFill/>
          <a:ln w="19050">
            <a:solidFill>
              <a:srgbClr val="009E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3832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FF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Edison Andrés Arteaga López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 2026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425196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253332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425196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DD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103120" y="425196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253332"/>
          </a:solidFill>
          <a:ln/>
        </p:spPr>
      </p:sp>
      <p:sp>
        <p:nvSpPr>
          <p:cNvPr id="12" name="Text 10"/>
          <p:cNvSpPr/>
          <p:nvPr/>
        </p:nvSpPr>
        <p:spPr>
          <a:xfrm>
            <a:off x="2103120" y="425196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DD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Jetpack Compose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520440" y="425196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253332"/>
          </a:solidFill>
          <a:ln/>
        </p:spPr>
      </p:sp>
      <p:sp>
        <p:nvSpPr>
          <p:cNvPr id="14" name="Text 12"/>
          <p:cNvSpPr/>
          <p:nvPr/>
        </p:nvSpPr>
        <p:spPr>
          <a:xfrm>
            <a:off x="3520440" y="425196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DD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37760" y="425196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253332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425196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DD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LoRaWAN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355080" y="425196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253332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425196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DD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DB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772400" y="425196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253332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0" y="425196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DD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06A6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Motivación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680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monitoreo ambiental inteligente?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023360" cy="3611880"/>
          </a:xfrm>
          <a:prstGeom prst="roundRect">
            <a:avLst>
              <a:gd name="adj" fmla="val 2532"/>
            </a:avLst>
          </a:prstGeom>
          <a:solidFill>
            <a:srgbClr val="FFF3F3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05156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481328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150" dirty="0">
                <a:solidFill>
                  <a:srgbClr val="1A26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Variaciones críticas de temperatura y humedad afectan cultivos, laboratorios, cadena de frío y almacenes.
</a:t>
            </a:r>
            <a:pPr indent="0" marL="0">
              <a:buNone/>
            </a:pPr>
            <a:r>
              <a:rPr lang="en-US" sz="115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150" dirty="0">
                <a:solidFill>
                  <a:srgbClr val="1A26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monitoreo manual es discontinuo, propenso a errores y no genera alertas en tiempo real.
</a:t>
            </a:r>
            <a:pPr indent="0" marL="0">
              <a:buNone/>
            </a:pPr>
            <a:r>
              <a:rPr lang="en-US" sz="115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150" dirty="0">
                <a:solidFill>
                  <a:srgbClr val="1A26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soluciones propietarias existentes son costosas, de código cerrado y difícil integración.
</a:t>
            </a:r>
            <a:pPr indent="0" marL="0">
              <a:buNone/>
            </a:pPr>
            <a:r>
              <a:rPr lang="en-US" sz="115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buNone/>
            </a:pPr>
            <a:r>
              <a:rPr lang="en-US" sz="1150" dirty="0">
                <a:solidFill>
                  <a:srgbClr val="1A26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requiere conectividad de largo alcance con bajo consumo energético en campo.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46320" y="1051560"/>
            <a:ext cx="4023360" cy="3611880"/>
          </a:xfrm>
          <a:prstGeom prst="roundRect">
            <a:avLst>
              <a:gd name="adj" fmla="val 2532"/>
            </a:avLst>
          </a:prstGeom>
          <a:solidFill>
            <a:srgbClr val="F0FFFE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05156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83480" y="1481328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150" dirty="0">
                <a:solidFill>
                  <a:srgbClr val="1A26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Nodos LoRaWAN de bajo consumo que transmiten temperatura y humedad cada minuto.
</a:t>
            </a:r>
            <a:pPr indent="0" marL="0">
              <a:buNone/>
            </a:pPr>
            <a:r>
              <a:rPr lang="en-US" sz="115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150" dirty="0">
                <a:solidFill>
                  <a:srgbClr val="1A26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Android nativa con visualización en tiempo real, historial y alarmas configurables.
</a:t>
            </a:r>
            <a:pPr indent="0" marL="0">
              <a:buNone/>
            </a:pPr>
            <a:r>
              <a:rPr lang="en-US" sz="115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150" dirty="0">
                <a:solidFill>
                  <a:srgbClr val="1A26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directa con The Things Industries (TTI) vía MQTT/TLS sin intermediarios.
</a:t>
            </a:r>
            <a:pPr indent="0" marL="0">
              <a:buNone/>
            </a:pPr>
            <a:r>
              <a:rPr lang="en-US" sz="115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buNone/>
            </a:pPr>
            <a:r>
              <a:rPr lang="en-US" sz="1150" dirty="0">
                <a:solidFill>
                  <a:srgbClr val="1A26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abierta basada en estándares: Kotlin, Jetpack Compose, Room, Material3.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06A6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del Proyecto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841248"/>
          </a:xfrm>
          <a:prstGeom prst="roundRect">
            <a:avLst>
              <a:gd name="adj" fmla="val 8696"/>
            </a:avLst>
          </a:prstGeom>
          <a:solidFill>
            <a:srgbClr val="006A63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960120"/>
            <a:ext cx="83210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FF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una aplicación Android nativa para monitoreo en tiempo real de variables ambientales (temperatura y humedad) usando nodos LoRaWAN conectados a The Things Industries, con almacenamiento local, sistema de alarmas y notificaciones push.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920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Específicos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233172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" y="2404872"/>
            <a:ext cx="292608" cy="292608"/>
          </a:xfrm>
          <a:prstGeom prst="ellipse">
            <a:avLst/>
          </a:prstGeom>
          <a:solidFill>
            <a:srgbClr val="006A63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" y="24048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13232" y="235915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IoT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13232" y="2615184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Recibir mensajes uplink de TTI vía MQTT/TLS (puerto 8883) y decodificar el payload LoRaWAN.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320040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7472" y="3273552"/>
            <a:ext cx="292608" cy="292608"/>
          </a:xfrm>
          <a:prstGeom prst="ellipse">
            <a:avLst/>
          </a:prstGeom>
          <a:solidFill>
            <a:srgbClr val="006A63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" y="32735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13232" y="322783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 local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13232" y="3483864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Almacenar lecturas y eventos de alarma en Room (SQLite) para acceso offline.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406908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7472" y="4142232"/>
            <a:ext cx="292608" cy="292608"/>
          </a:xfrm>
          <a:prstGeom prst="ellipse">
            <a:avLst/>
          </a:prstGeom>
          <a:solidFill>
            <a:srgbClr val="006A63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" y="41422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13232" y="409651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reactiva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13232" y="4352544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UI con Jetpack Compose + Material3 con actualización en tiempo real.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9160" y="233172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82312" y="2404872"/>
            <a:ext cx="292608" cy="292608"/>
          </a:xfrm>
          <a:prstGeom prst="ellipse">
            <a:avLst/>
          </a:prstGeom>
          <a:solidFill>
            <a:srgbClr val="006A63"/>
          </a:solidFill>
          <a:ln/>
        </p:spPr>
      </p:sp>
      <p:sp>
        <p:nvSpPr>
          <p:cNvPr id="25" name="Text 23"/>
          <p:cNvSpPr/>
          <p:nvPr/>
        </p:nvSpPr>
        <p:spPr>
          <a:xfrm>
            <a:off x="4782312" y="24048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148072" y="235915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alarmas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148072" y="2615184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umbrales configurables y enviar notificaciones push cuando se excedan.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09160" y="320040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82312" y="3273552"/>
            <a:ext cx="292608" cy="292608"/>
          </a:xfrm>
          <a:prstGeom prst="ellipse">
            <a:avLst/>
          </a:prstGeom>
          <a:solidFill>
            <a:srgbClr val="006A63"/>
          </a:solidFill>
          <a:ln/>
        </p:spPr>
      </p:sp>
      <p:sp>
        <p:nvSpPr>
          <p:cNvPr id="30" name="Text 28"/>
          <p:cNvSpPr/>
          <p:nvPr/>
        </p:nvSpPr>
        <p:spPr>
          <a:xfrm>
            <a:off x="4782312" y="32735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148072" y="322783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persistente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148072" y="3483864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 la conexión MQTT activa en segundo plano mediante Foreground Service.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09160" y="406908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82312" y="4142232"/>
            <a:ext cx="292608" cy="292608"/>
          </a:xfrm>
          <a:prstGeom prst="ellipse">
            <a:avLst/>
          </a:prstGeom>
          <a:solidFill>
            <a:srgbClr val="006A63"/>
          </a:solidFill>
          <a:ln/>
        </p:spPr>
      </p:sp>
      <p:sp>
        <p:nvSpPr>
          <p:cNvPr id="35" name="Text 33"/>
          <p:cNvSpPr/>
          <p:nvPr/>
        </p:nvSpPr>
        <p:spPr>
          <a:xfrm>
            <a:off x="4782312" y="41422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148072" y="409651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148072" y="4352544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credenciales (API Key) mediante DataStore Preferences, nunca en código fuente.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A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06A6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General del Sistema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37160" y="1920240"/>
            <a:ext cx="1280160" cy="822960"/>
          </a:xfrm>
          <a:prstGeom prst="roundRect">
            <a:avLst>
              <a:gd name="adj" fmla="val 11111"/>
            </a:avLst>
          </a:prstGeom>
          <a:solidFill>
            <a:srgbClr val="253332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" y="192024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FF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6FF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LoRaWAN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655064" y="1920240"/>
            <a:ext cx="1280160" cy="822960"/>
          </a:xfrm>
          <a:prstGeom prst="roundRect">
            <a:avLst>
              <a:gd name="adj" fmla="val 11111"/>
            </a:avLst>
          </a:prstGeom>
          <a:solidFill>
            <a:srgbClr val="253332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655064" y="192024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FF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6FF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LoRaWAN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72968" y="1920240"/>
            <a:ext cx="1280160" cy="822960"/>
          </a:xfrm>
          <a:prstGeom prst="roundRect">
            <a:avLst>
              <a:gd name="adj" fmla="val 11111"/>
            </a:avLst>
          </a:prstGeom>
          <a:solidFill>
            <a:srgbClr val="006A63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172968" y="192024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Things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Industries (TTI)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90872" y="1920240"/>
            <a:ext cx="1280160" cy="822960"/>
          </a:xfrm>
          <a:prstGeom prst="roundRect">
            <a:avLst>
              <a:gd name="adj" fmla="val 11111"/>
            </a:avLst>
          </a:prstGeom>
          <a:solidFill>
            <a:srgbClr val="253332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90872" y="192024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FF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6FF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MQTT/TLS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08776" y="1920240"/>
            <a:ext cx="1280160" cy="822960"/>
          </a:xfrm>
          <a:prstGeom prst="roundRect">
            <a:avLst>
              <a:gd name="adj" fmla="val 11111"/>
            </a:avLst>
          </a:prstGeom>
          <a:solidFill>
            <a:srgbClr val="006A63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08776" y="192024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726680" y="1920240"/>
            <a:ext cx="1280160" cy="822960"/>
          </a:xfrm>
          <a:prstGeom prst="roundRect">
            <a:avLst>
              <a:gd name="adj" fmla="val 11111"/>
            </a:avLst>
          </a:prstGeom>
          <a:solidFill>
            <a:srgbClr val="253332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726680" y="192024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FF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6FF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Alarmas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435608" y="2331720"/>
            <a:ext cx="201168" cy="0"/>
          </a:xfrm>
          <a:prstGeom prst="line">
            <a:avLst/>
          </a:prstGeom>
          <a:noFill/>
          <a:ln w="25400">
            <a:solidFill>
              <a:srgbClr val="4DDBD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953512" y="2331720"/>
            <a:ext cx="201168" cy="0"/>
          </a:xfrm>
          <a:prstGeom prst="line">
            <a:avLst/>
          </a:prstGeom>
          <a:noFill/>
          <a:ln w="25400">
            <a:solidFill>
              <a:srgbClr val="4DDBD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471416" y="2331720"/>
            <a:ext cx="201168" cy="0"/>
          </a:xfrm>
          <a:prstGeom prst="line">
            <a:avLst/>
          </a:prstGeom>
          <a:noFill/>
          <a:ln w="25400">
            <a:solidFill>
              <a:srgbClr val="4DDBD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989320" y="2331720"/>
            <a:ext cx="201168" cy="0"/>
          </a:xfrm>
          <a:prstGeom prst="line">
            <a:avLst/>
          </a:prstGeom>
          <a:noFill/>
          <a:ln w="25400">
            <a:solidFill>
              <a:srgbClr val="4DDBD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507224" y="2331720"/>
            <a:ext cx="201168" cy="0"/>
          </a:xfrm>
          <a:prstGeom prst="line">
            <a:avLst/>
          </a:prstGeom>
          <a:noFill/>
          <a:ln w="25400">
            <a:solidFill>
              <a:srgbClr val="4DDBD0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1170432" y="15727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DD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868MHz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688336" y="15727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DD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IP/TCP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206240" y="15727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DD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sub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724144" y="15727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DD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pub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242048" y="15727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DD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Push/UI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37160" y="2852928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SHT31 sensor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8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ATMega32U4 + RFM95W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8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 868 MHz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655064" y="2852928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RAK7268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8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Banda: AU915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8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via Ethernet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172968" y="2852928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de red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8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Tenant: unicamp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8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ID: iotdlt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690872" y="2852928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unicamp.au1.cloud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8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.thethings.industries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8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8883 TLS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208776" y="2852928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Foreground Service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8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HiveMQ Client 1.3.3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8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+ MQTT v3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726680" y="2852928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8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8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06A6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Nodo IoT LoRaWAN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680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Hardware, firmware y formato de payload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del Nodo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371600"/>
            <a:ext cx="41148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37160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MCU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63040" y="1371600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6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ATmega32U4 — 8-bit AVR @ 8 MHz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1920240"/>
            <a:ext cx="4114800" cy="475488"/>
          </a:xfrm>
          <a:prstGeom prst="roundRect">
            <a:avLst>
              <a:gd name="adj" fmla="val 11538"/>
            </a:avLst>
          </a:prstGeom>
          <a:solidFill>
            <a:srgbClr val="F0FFFE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192024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463040" y="1920240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6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RFM95W — LoRa 868 MHz, +20 dBm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468880"/>
            <a:ext cx="41148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246888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463040" y="2468880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6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SHT31 — Temp ±0.3°C / Hum ±2% RH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017520"/>
            <a:ext cx="4114800" cy="475488"/>
          </a:xfrm>
          <a:prstGeom prst="roundRect">
            <a:avLst>
              <a:gd name="adj" fmla="val 11538"/>
            </a:avLst>
          </a:prstGeom>
          <a:solidFill>
            <a:srgbClr val="F0FFFE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301752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463040" y="3017520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6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LoRaWAN 1.0.3 · Clase 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3566160"/>
            <a:ext cx="41148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11480" y="356616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463040" y="3566160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6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AU915 (Australia/LAM) · SF7–SF12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4114800"/>
            <a:ext cx="4114800" cy="475488"/>
          </a:xfrm>
          <a:prstGeom prst="roundRect">
            <a:avLst>
              <a:gd name="adj" fmla="val 11538"/>
            </a:avLst>
          </a:prstGeom>
          <a:solidFill>
            <a:srgbClr val="F0FFFE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11480" y="411480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Alimentación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463040" y="4114800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6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V Li-Po + harvesting solar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5488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Payload TTN (decodificado)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54880" y="1371600"/>
            <a:ext cx="4114800" cy="1920240"/>
          </a:xfrm>
          <a:prstGeom prst="roundRect">
            <a:avLst>
              <a:gd name="adj" fmla="val 3810"/>
            </a:avLst>
          </a:prstGeom>
          <a:solidFill>
            <a:srgbClr val="1A2625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46320" y="141732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07D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Payload Decoder — TTN Formatter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
</a:t>
            </a:r>
            <a:pPr indent="0" marL="0">
              <a:buNone/>
            </a:pPr>
            <a:r>
              <a:rPr lang="en-US" sz="1100" dirty="0">
                <a:solidFill>
                  <a:srgbClr val="4DDB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"device"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"lorawan_node_1"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
</a:t>
            </a:r>
            <a:pPr indent="0" marL="0">
              <a:buNone/>
            </a:pPr>
            <a:r>
              <a:rPr lang="en-US" sz="1100" dirty="0">
                <a:solidFill>
                  <a:srgbClr val="4DDB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"seq" 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4812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
</a:t>
            </a:r>
            <a:pPr indent="0" marL="0">
              <a:buNone/>
            </a:pPr>
            <a:r>
              <a:rPr lang="en-US" sz="1100" dirty="0">
                <a:solidFill>
                  <a:srgbClr val="4DDB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"temp"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21.7</a:t>
            </a:r>
            <a:pPr indent="0" marL="0">
              <a:buNone/>
            </a:pPr>
            <a:r>
              <a:rPr lang="en-US" sz="1100" i="1" dirty="0">
                <a:solidFill>
                  <a:srgbClr val="607D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 // °C
</a:t>
            </a:r>
            <a:pPr indent="0" marL="0">
              <a:buNone/>
            </a:pPr>
            <a:r>
              <a:rPr lang="en-US" sz="1100" dirty="0">
                <a:solidFill>
                  <a:srgbClr val="4DDB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"hum"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53.6</a:t>
            </a:r>
            <a:pPr indent="0" marL="0">
              <a:buNone/>
            </a:pPr>
            <a:r>
              <a:rPr lang="en-US" sz="1100" i="1" dirty="0">
                <a:solidFill>
                  <a:srgbClr val="607D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// %RH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0" y="33649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reales capturados en pruebas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675888"/>
            <a:ext cx="960120" cy="658368"/>
          </a:xfrm>
          <a:prstGeom prst="roundRect">
            <a:avLst>
              <a:gd name="adj" fmla="val 11111"/>
            </a:avLst>
          </a:prstGeom>
          <a:solidFill>
            <a:srgbClr val="006A63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754880" y="3675888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FF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754880" y="3968496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lorawan_node_1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797296" y="3675888"/>
            <a:ext cx="960120" cy="658368"/>
          </a:xfrm>
          <a:prstGeom prst="roundRect">
            <a:avLst>
              <a:gd name="adj" fmla="val 11111"/>
            </a:avLst>
          </a:prstGeom>
          <a:solidFill>
            <a:srgbClr val="006A63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797296" y="3675888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FF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5797296" y="3968496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21.7 °C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839712" y="3675888"/>
            <a:ext cx="960120" cy="658368"/>
          </a:xfrm>
          <a:prstGeom prst="roundRect">
            <a:avLst>
              <a:gd name="adj" fmla="val 11111"/>
            </a:avLst>
          </a:prstGeom>
          <a:solidFill>
            <a:srgbClr val="006A63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839712" y="3675888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FF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Humedad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839712" y="3968496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53.6 % RH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882128" y="3675888"/>
            <a:ext cx="960120" cy="658368"/>
          </a:xfrm>
          <a:prstGeom prst="roundRect">
            <a:avLst>
              <a:gd name="adj" fmla="val 11111"/>
            </a:avLst>
          </a:prstGeom>
          <a:solidFill>
            <a:srgbClr val="006A63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882128" y="3675888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FF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7882128" y="3968496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msg #4812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06A6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Integración con TTI (The Things Industries)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680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sobre TLS · Autenticación con API Key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Parámetros de Conexión MQTT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353312"/>
            <a:ext cx="5029200" cy="393192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84048" y="1353312"/>
            <a:ext cx="1097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508760" y="1353312"/>
            <a:ext cx="3657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6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unicamp.au1.cloud.thethings.industries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1792224"/>
            <a:ext cx="5029200" cy="393192"/>
          </a:xfrm>
          <a:prstGeom prst="roundRect">
            <a:avLst>
              <a:gd name="adj" fmla="val 13953"/>
            </a:avLst>
          </a:prstGeom>
          <a:solidFill>
            <a:srgbClr val="F0FFFE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4048" y="1792224"/>
            <a:ext cx="1097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508760" y="1792224"/>
            <a:ext cx="3657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6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8883 (TLS/SSL)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231136"/>
            <a:ext cx="5029200" cy="393192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4048" y="2231136"/>
            <a:ext cx="1097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508760" y="2231136"/>
            <a:ext cx="3657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6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{app_id}@{tenant}   →   iotdlt@unicamp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670048"/>
            <a:ext cx="5029200" cy="393192"/>
          </a:xfrm>
          <a:prstGeom prst="roundRect">
            <a:avLst>
              <a:gd name="adj" fmla="val 13953"/>
            </a:avLst>
          </a:prstGeom>
          <a:solidFill>
            <a:srgbClr val="F0FFFE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84048" y="2670048"/>
            <a:ext cx="1097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508760" y="2670048"/>
            <a:ext cx="3657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6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de la aplicación (DataStore)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108960"/>
            <a:ext cx="5029200" cy="393192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84048" y="3108960"/>
            <a:ext cx="1097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sub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508760" y="3108960"/>
            <a:ext cx="3657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6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v3/iotdlt@unicamp/devices/+/up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547872"/>
            <a:ext cx="5029200" cy="393192"/>
          </a:xfrm>
          <a:prstGeom prst="roundRect">
            <a:avLst>
              <a:gd name="adj" fmla="val 13953"/>
            </a:avLst>
          </a:prstGeom>
          <a:solidFill>
            <a:srgbClr val="F0FFFE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84048" y="3547872"/>
            <a:ext cx="1097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508760" y="3547872"/>
            <a:ext cx="3657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6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3.1.1 · QoS AT_LEAST_ONCE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986784"/>
            <a:ext cx="5029200" cy="393192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84048" y="3986784"/>
            <a:ext cx="1097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508760" y="3986784"/>
            <a:ext cx="3657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6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HiveMQ MQTT Client 1.3.3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577840" y="100584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 de Mensajes Uplink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577840" y="1261872"/>
            <a:ext cx="3291840" cy="493776"/>
          </a:xfrm>
          <a:prstGeom prst="roundRect">
            <a:avLst>
              <a:gd name="adj" fmla="val 14815"/>
            </a:avLst>
          </a:prstGeom>
          <a:solidFill>
            <a:srgbClr val="253332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577840" y="1261872"/>
            <a:ext cx="3291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FF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 transmite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FF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binario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223760" y="1764792"/>
            <a:ext cx="0" cy="91440"/>
          </a:xfrm>
          <a:prstGeom prst="line">
            <a:avLst/>
          </a:prstGeom>
          <a:noFill/>
          <a:ln w="19050">
            <a:solidFill>
              <a:srgbClr val="4DDBD0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577840" y="1865376"/>
            <a:ext cx="3291840" cy="493776"/>
          </a:xfrm>
          <a:prstGeom prst="roundRect">
            <a:avLst>
              <a:gd name="adj" fmla="val 14815"/>
            </a:avLst>
          </a:prstGeom>
          <a:solidFill>
            <a:srgbClr val="006A63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577840" y="1865376"/>
            <a:ext cx="3291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TTI decodifica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formatter JS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223760" y="2368296"/>
            <a:ext cx="0" cy="91440"/>
          </a:xfrm>
          <a:prstGeom prst="line">
            <a:avLst/>
          </a:prstGeom>
          <a:noFill/>
          <a:ln w="19050">
            <a:solidFill>
              <a:srgbClr val="4DDBD0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5577840" y="2468880"/>
            <a:ext cx="3291840" cy="493776"/>
          </a:xfrm>
          <a:prstGeom prst="roundRect">
            <a:avLst>
              <a:gd name="adj" fmla="val 14815"/>
            </a:avLst>
          </a:prstGeom>
          <a:solidFill>
            <a:srgbClr val="006A63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577840" y="2468880"/>
            <a:ext cx="3291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TTI publica JSON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tópico MQTT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223760" y="2971800"/>
            <a:ext cx="0" cy="91440"/>
          </a:xfrm>
          <a:prstGeom prst="line">
            <a:avLst/>
          </a:prstGeom>
          <a:noFill/>
          <a:ln w="19050">
            <a:solidFill>
              <a:srgbClr val="4DDBD0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5577840" y="3072384"/>
            <a:ext cx="3291840" cy="493776"/>
          </a:xfrm>
          <a:prstGeom prst="roundRect">
            <a:avLst>
              <a:gd name="adj" fmla="val 14815"/>
            </a:avLst>
          </a:prstGeom>
          <a:solidFill>
            <a:srgbClr val="253332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577840" y="3072384"/>
            <a:ext cx="3291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FF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recibe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FF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callback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223760" y="3575304"/>
            <a:ext cx="0" cy="91440"/>
          </a:xfrm>
          <a:prstGeom prst="line">
            <a:avLst/>
          </a:prstGeom>
          <a:noFill/>
          <a:ln w="19050">
            <a:solidFill>
              <a:srgbClr val="4DDBD0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5577840" y="3675888"/>
            <a:ext cx="3291840" cy="493776"/>
          </a:xfrm>
          <a:prstGeom prst="roundRect">
            <a:avLst>
              <a:gd name="adj" fmla="val 14815"/>
            </a:avLst>
          </a:prstGeom>
          <a:solidFill>
            <a:srgbClr val="253332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577840" y="3675888"/>
            <a:ext cx="3291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FF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Parseo JSON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FF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Room insert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06A6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de la App Android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680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 + Unidirectional Data Flow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8595360" cy="841248"/>
          </a:xfrm>
          <a:prstGeom prst="roundRect">
            <a:avLst>
              <a:gd name="adj" fmla="val 8696"/>
            </a:avLst>
          </a:prstGeom>
          <a:solidFill>
            <a:srgbClr val="006A63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960120"/>
            <a:ext cx="2286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UI (Presentación)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697480" y="1051560"/>
            <a:ext cx="6080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DashboardScreen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DeviceDetailScreen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AlarmsScreen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SettingsScreen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ThresholdsScreen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2011680"/>
            <a:ext cx="8595360" cy="804672"/>
          </a:xfrm>
          <a:prstGeom prst="roundRect">
            <a:avLst>
              <a:gd name="adj" fmla="val 9091"/>
            </a:avLst>
          </a:prstGeom>
          <a:solidFill>
            <a:srgbClr val="009E94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2011680"/>
            <a:ext cx="22860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ViewModel / Lógica de Negocio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97480" y="2103120"/>
            <a:ext cx="6080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DashboardViewModel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AlarmsViewModel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SettingsViewModel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999232"/>
            <a:ext cx="8595360" cy="804672"/>
          </a:xfrm>
          <a:prstGeom prst="roundRect">
            <a:avLst>
              <a:gd name="adj" fmla="val 9091"/>
            </a:avLst>
          </a:prstGeom>
          <a:solidFill>
            <a:srgbClr val="253332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2999232"/>
            <a:ext cx="22860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F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DATOS (Repositorios)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97480" y="3090672"/>
            <a:ext cx="6080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F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SensorRepository
</a:t>
            </a:r>
            <a:pPr indent="0" marL="0">
              <a:buNone/>
            </a:pPr>
            <a:r>
              <a:rPr lang="en-US" sz="950" dirty="0">
                <a:solidFill>
                  <a:srgbClr val="6FF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SettingsRepository
</a:t>
            </a:r>
            <a:pPr indent="0" marL="0">
              <a:buNone/>
            </a:pPr>
            <a:r>
              <a:rPr lang="en-US" sz="950" dirty="0">
                <a:solidFill>
                  <a:srgbClr val="6FF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AlarmRepository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977640"/>
            <a:ext cx="8595360" cy="804672"/>
          </a:xfrm>
          <a:prstGeom prst="roundRect">
            <a:avLst>
              <a:gd name="adj" fmla="val 9091"/>
            </a:avLst>
          </a:prstGeom>
          <a:solidFill>
            <a:srgbClr val="1A2625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11480" y="3977640"/>
            <a:ext cx="22860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D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FUENTES DE DATOS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97480" y="4069080"/>
            <a:ext cx="6080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DD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Room DB (SensorReadingDao, AlarmEventDao)
</a:t>
            </a:r>
            <a:pPr indent="0" marL="0">
              <a:buNone/>
            </a:pPr>
            <a:r>
              <a:rPr lang="en-US" sz="950" dirty="0">
                <a:solidFill>
                  <a:srgbClr val="4DD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DataStore Preferences
</a:t>
            </a:r>
            <a:pPr indent="0" marL="0">
              <a:buNone/>
            </a:pPr>
            <a:r>
              <a:rPr lang="en-US" sz="950" dirty="0">
                <a:solidFill>
                  <a:srgbClr val="4DD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TtnMqttClient (HiveMQ)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92608" y="183794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00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  StateFlow / collectAsStateWithLifecycle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92608" y="285292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00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  StateFlow / Flow (Coroutines)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92608" y="384048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00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  Suspend functions / Flow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06A6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Tecnológico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680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Versiones y bibliotecas utilizadas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97280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006A63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1271016"/>
            <a:ext cx="2651760" cy="173736"/>
          </a:xfrm>
          <a:prstGeom prst="rect">
            <a:avLst/>
          </a:prstGeom>
          <a:solidFill>
            <a:srgbClr val="006A63"/>
          </a:solidFill>
          <a:ln w="12700">
            <a:solidFill>
              <a:srgbClr val="006A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0972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&amp; Build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29768" y="148132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6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Kotlin 2.1.0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29768" y="1792224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6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AGP 9.0.1 (Android Gradle Plugin)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29768" y="210312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6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KSP 2.1.0-1.0.29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29768" y="241401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6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compileSdk / targetSdk 35 (Android 15)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172968" y="109728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72968" y="1097280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0077B6"/>
          </a:solidFill>
          <a:ln/>
        </p:spPr>
      </p:sp>
      <p:sp>
        <p:nvSpPr>
          <p:cNvPr id="16" name="Shape 14"/>
          <p:cNvSpPr/>
          <p:nvPr/>
        </p:nvSpPr>
        <p:spPr>
          <a:xfrm>
            <a:off x="3172968" y="1271016"/>
            <a:ext cx="2651760" cy="173736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72968" y="10972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Framework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282696" y="148132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6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Jetpack Compose BOM 2024.11.00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82696" y="1792224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6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Material3 (tema Teal personalizado)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82696" y="210312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6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Navigation Compose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282696" y="241401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6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Canvas — gráfico de línea custom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025896" y="109728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25896" y="1097280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6D4C41"/>
          </a:solidFill>
          <a:ln/>
        </p:spPr>
      </p:sp>
      <p:sp>
        <p:nvSpPr>
          <p:cNvPr id="24" name="Shape 22"/>
          <p:cNvSpPr/>
          <p:nvPr/>
        </p:nvSpPr>
        <p:spPr>
          <a:xfrm>
            <a:off x="6025896" y="1271016"/>
            <a:ext cx="2651760" cy="173736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25896" y="10972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135624" y="148132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6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Room 2.7.0 (SQLite wrapper)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135624" y="1792224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6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DataStore Preferences (credentials)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135624" y="210312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6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KSP para generación de código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135624" y="241401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6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kotlinx.serialization (JSON)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" y="2953512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" y="2953512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37474F"/>
          </a:solidFill>
          <a:ln/>
        </p:spPr>
      </p:sp>
      <p:sp>
        <p:nvSpPr>
          <p:cNvPr id="32" name="Shape 30"/>
          <p:cNvSpPr/>
          <p:nvPr/>
        </p:nvSpPr>
        <p:spPr>
          <a:xfrm>
            <a:off x="320040" y="3127248"/>
            <a:ext cx="2651760" cy="173736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295351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/ IoT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29768" y="333756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6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HiveMQ MQTT Client 1.3.3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29768" y="364845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6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TLS/SSL — puerto 8883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29768" y="395935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6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Things Industries (TTI cloud)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29768" y="427024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6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LoRaWAN 1.0.3 Clase A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172968" y="2953512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172968" y="2953512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4A148C"/>
          </a:solidFill>
          <a:ln/>
        </p:spPr>
      </p:sp>
      <p:sp>
        <p:nvSpPr>
          <p:cNvPr id="40" name="Shape 38"/>
          <p:cNvSpPr/>
          <p:nvPr/>
        </p:nvSpPr>
        <p:spPr>
          <a:xfrm>
            <a:off x="3172968" y="3127248"/>
            <a:ext cx="2651760" cy="173736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172968" y="295351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Android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3282696" y="333756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6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LifecycleService (Foreground Service)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282696" y="364845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6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ServiceCompat.startForeground()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282696" y="395935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6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NotificationCompat + canales Android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282696" y="427024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6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FGS type: REMOTE_MESSAGING (API 35)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025896" y="2953512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025896" y="2953512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1B5E20"/>
          </a:solidFill>
          <a:ln/>
        </p:spPr>
      </p:sp>
      <p:sp>
        <p:nvSpPr>
          <p:cNvPr id="48" name="Shape 46"/>
          <p:cNvSpPr/>
          <p:nvPr/>
        </p:nvSpPr>
        <p:spPr>
          <a:xfrm>
            <a:off x="6025896" y="3127248"/>
            <a:ext cx="2651760" cy="173736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025896" y="295351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135624" y="333756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6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MVVM + Repository Pattern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135624" y="364845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6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StateFlow / collectAsStateWithLifecycle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135624" y="395935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6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AppContainer (Manual DI)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135624" y="427024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6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Kotlin Coroutines + Dispatchers.IO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06A6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Pantalla Principal — Dashboard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680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en tiempo real por dispositivo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51206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03327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Tarjetas de Dispositivo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380744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6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tarjeta por nodo registrado. Muestra ID, temperatura, humedad y estado de alarma.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331720"/>
            <a:ext cx="51206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40487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Codificación por Color (MetricStatus)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752344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6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→ verde teal · BAJO → azul/ámbar · ALTO → rojo. Cada métrica calculada independientemente.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703320"/>
            <a:ext cx="51206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377647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de Alarmas No Reconocidas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123944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6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tab 'Alarmas' muestra un BadgedBox con el conteo de eventos pendientes de reconocer.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0" y="960120"/>
            <a:ext cx="3200400" cy="3840480"/>
          </a:xfrm>
          <a:prstGeom prst="roundRect">
            <a:avLst>
              <a:gd name="adj" fmla="val 3429"/>
            </a:avLst>
          </a:prstGeom>
          <a:solidFill>
            <a:srgbClr val="1A2625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760720" y="102412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D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Dispositivo: nodo-2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760720" y="146304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253332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760720" y="14630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DD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760720" y="171907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21.7 °C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315200" y="146304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253332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15200" y="14630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DD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0" y="171907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0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53.6 %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760720" y="2212848"/>
            <a:ext cx="2926080" cy="1371600"/>
          </a:xfrm>
          <a:prstGeom prst="roundRect">
            <a:avLst>
              <a:gd name="adj" fmla="val 4000"/>
            </a:avLst>
          </a:prstGeom>
          <a:solidFill>
            <a:srgbClr val="253332"/>
          </a:solidFill>
          <a:ln/>
        </p:spPr>
      </p:sp>
      <p:sp>
        <p:nvSpPr>
          <p:cNvPr id="24" name="Text 22"/>
          <p:cNvSpPr/>
          <p:nvPr/>
        </p:nvSpPr>
        <p:spPr>
          <a:xfrm>
            <a:off x="5760720" y="221284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DD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histórico (24h)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852160" y="3310128"/>
            <a:ext cx="274320" cy="-201168"/>
          </a:xfrm>
          <a:prstGeom prst="line">
            <a:avLst/>
          </a:prstGeom>
          <a:noFill/>
          <a:ln w="25400">
            <a:solidFill>
              <a:srgbClr val="4DDB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26480" y="3108960"/>
            <a:ext cx="274320" cy="137160"/>
          </a:xfrm>
          <a:prstGeom prst="line">
            <a:avLst/>
          </a:prstGeom>
          <a:noFill/>
          <a:ln w="25400">
            <a:solidFill>
              <a:srgbClr val="4DDBD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0" y="3246120"/>
            <a:ext cx="274320" cy="-228600"/>
          </a:xfrm>
          <a:prstGeom prst="line">
            <a:avLst/>
          </a:prstGeom>
          <a:noFill/>
          <a:ln w="25400">
            <a:solidFill>
              <a:srgbClr val="4DDBD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75120" y="3017520"/>
            <a:ext cx="274320" cy="137160"/>
          </a:xfrm>
          <a:prstGeom prst="line">
            <a:avLst/>
          </a:prstGeom>
          <a:noFill/>
          <a:ln w="25400">
            <a:solidFill>
              <a:srgbClr val="4DDBD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49440" y="3154680"/>
            <a:ext cx="274320" cy="-228600"/>
          </a:xfrm>
          <a:prstGeom prst="line">
            <a:avLst/>
          </a:prstGeom>
          <a:noFill/>
          <a:ln w="25400">
            <a:solidFill>
              <a:srgbClr val="4DDBD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0" y="2926080"/>
            <a:ext cx="274320" cy="164592"/>
          </a:xfrm>
          <a:prstGeom prst="line">
            <a:avLst/>
          </a:prstGeom>
          <a:noFill/>
          <a:ln w="25400">
            <a:solidFill>
              <a:srgbClr val="4DDBD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98080" y="3090672"/>
            <a:ext cx="274320" cy="-210312"/>
          </a:xfrm>
          <a:prstGeom prst="line">
            <a:avLst/>
          </a:prstGeom>
          <a:noFill/>
          <a:ln w="25400">
            <a:solidFill>
              <a:srgbClr val="4DDBD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72400" y="2880360"/>
            <a:ext cx="640080" cy="-45720"/>
          </a:xfrm>
          <a:prstGeom prst="line">
            <a:avLst/>
          </a:prstGeom>
          <a:noFill/>
          <a:ln w="25400">
            <a:solidFill>
              <a:srgbClr val="4DDBD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760720" y="2743200"/>
            <a:ext cx="2926080" cy="0"/>
          </a:xfrm>
          <a:prstGeom prst="line">
            <a:avLst/>
          </a:prstGeom>
          <a:noFill/>
          <a:ln w="12700">
            <a:solidFill>
              <a:srgbClr val="EF5350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5760720" y="3383280"/>
            <a:ext cx="2926080" cy="0"/>
          </a:xfrm>
          <a:prstGeom prst="line">
            <a:avLst/>
          </a:prstGeom>
          <a:noFill/>
          <a:ln w="12700">
            <a:solidFill>
              <a:srgbClr val="4FC3F7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8458200" y="2670048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8458200" y="3310128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5760720" y="3703320"/>
            <a:ext cx="2926080" cy="685800"/>
          </a:xfrm>
          <a:prstGeom prst="roundRect">
            <a:avLst>
              <a:gd name="adj" fmla="val 10667"/>
            </a:avLst>
          </a:prstGeom>
          <a:solidFill>
            <a:srgbClr val="4CAF50"/>
          </a:solidFill>
          <a:ln/>
        </p:spPr>
      </p:sp>
      <p:sp>
        <p:nvSpPr>
          <p:cNvPr id="38" name="Text 36"/>
          <p:cNvSpPr/>
          <p:nvPr/>
        </p:nvSpPr>
        <p:spPr>
          <a:xfrm>
            <a:off x="5760720" y="370332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Estado: NORMAL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06A6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 Alarmas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680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Umbrales configurables, detección y notificaciones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82880" y="1005840"/>
            <a:ext cx="1261872" cy="749808"/>
          </a:xfrm>
          <a:prstGeom prst="roundRect">
            <a:avLst>
              <a:gd name="adj" fmla="val 12195"/>
            </a:avLst>
          </a:prstGeom>
          <a:solidFill>
            <a:srgbClr val="253332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82880" y="1005840"/>
            <a:ext cx="12618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DD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4DD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recibida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463040" y="1380744"/>
            <a:ext cx="201168" cy="0"/>
          </a:xfrm>
          <a:prstGeom prst="line">
            <a:avLst/>
          </a:prstGeom>
          <a:noFill/>
          <a:ln w="22860">
            <a:solidFill>
              <a:srgbClr val="4DDBD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664208" y="1005840"/>
            <a:ext cx="1261872" cy="749808"/>
          </a:xfrm>
          <a:prstGeom prst="roundRect">
            <a:avLst>
              <a:gd name="adj" fmla="val 12195"/>
            </a:avLst>
          </a:prstGeom>
          <a:solidFill>
            <a:srgbClr val="006A63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664208" y="1005840"/>
            <a:ext cx="12618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¿Alarmas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habilitadas?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44368" y="1380744"/>
            <a:ext cx="201168" cy="0"/>
          </a:xfrm>
          <a:prstGeom prst="line">
            <a:avLst/>
          </a:prstGeom>
          <a:noFill/>
          <a:ln w="22860">
            <a:solidFill>
              <a:srgbClr val="4DDBD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145536" y="1005840"/>
            <a:ext cx="1261872" cy="749808"/>
          </a:xfrm>
          <a:prstGeom prst="roundRect">
            <a:avLst>
              <a:gd name="adj" fmla="val 12195"/>
            </a:avLst>
          </a:prstGeom>
          <a:solidFill>
            <a:srgbClr val="006A63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145536" y="1005840"/>
            <a:ext cx="12618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4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25696" y="1380744"/>
            <a:ext cx="201168" cy="0"/>
          </a:xfrm>
          <a:prstGeom prst="line">
            <a:avLst/>
          </a:prstGeom>
          <a:noFill/>
          <a:ln w="22860">
            <a:solidFill>
              <a:srgbClr val="4DDBD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626864" y="1005840"/>
            <a:ext cx="1261872" cy="749808"/>
          </a:xfrm>
          <a:prstGeom prst="roundRect">
            <a:avLst>
              <a:gd name="adj" fmla="val 12195"/>
            </a:avLst>
          </a:prstGeom>
          <a:solidFill>
            <a:srgbClr val="253332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26864" y="1005840"/>
            <a:ext cx="12618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DD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¿Cooldown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4DD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min)?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07024" y="1380744"/>
            <a:ext cx="201168" cy="0"/>
          </a:xfrm>
          <a:prstGeom prst="line">
            <a:avLst/>
          </a:prstGeom>
          <a:noFill/>
          <a:ln w="22860">
            <a:solidFill>
              <a:srgbClr val="4DDBD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108192" y="1005840"/>
            <a:ext cx="1261872" cy="749808"/>
          </a:xfrm>
          <a:prstGeom prst="roundRect">
            <a:avLst>
              <a:gd name="adj" fmla="val 12195"/>
            </a:avLst>
          </a:prstGeom>
          <a:solidFill>
            <a:srgbClr val="253332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108192" y="1005840"/>
            <a:ext cx="12618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DD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4DD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Room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88352" y="1380744"/>
            <a:ext cx="201168" cy="0"/>
          </a:xfrm>
          <a:prstGeom prst="line">
            <a:avLst/>
          </a:prstGeom>
          <a:noFill/>
          <a:ln w="22860">
            <a:solidFill>
              <a:srgbClr val="4DDBD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589520" y="1005840"/>
            <a:ext cx="1261872" cy="749808"/>
          </a:xfrm>
          <a:prstGeom prst="roundRect">
            <a:avLst>
              <a:gd name="adj" fmla="val 12195"/>
            </a:avLst>
          </a:prstGeom>
          <a:solidFill>
            <a:srgbClr val="EF5350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589520" y="1005840"/>
            <a:ext cx="12618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Notificación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" y="192024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Tipos de Alarma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74320" y="2240280"/>
            <a:ext cx="411480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7472" y="2295144"/>
            <a:ext cx="274320" cy="274320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26" name="Text 24"/>
          <p:cNvSpPr/>
          <p:nvPr/>
        </p:nvSpPr>
        <p:spPr>
          <a:xfrm>
            <a:off x="694944" y="2240280"/>
            <a:ext cx="1645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6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TEMP_HIGH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377440" y="224028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 &gt; umbral máximo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2788920"/>
            <a:ext cx="411480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47472" y="2843784"/>
            <a:ext cx="274320" cy="274320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30" name="Text 28"/>
          <p:cNvSpPr/>
          <p:nvPr/>
        </p:nvSpPr>
        <p:spPr>
          <a:xfrm>
            <a:off x="694944" y="2788920"/>
            <a:ext cx="1645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6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TEMP_LOW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377440" y="278892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 &lt; umbral mínimo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3337560"/>
            <a:ext cx="411480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47472" y="3392424"/>
            <a:ext cx="274320" cy="274320"/>
          </a:xfrm>
          <a:prstGeom prst="ellipse">
            <a:avLst/>
          </a:prstGeom>
          <a:solidFill>
            <a:srgbClr val="CE93D8"/>
          </a:solidFill>
          <a:ln/>
        </p:spPr>
      </p:sp>
      <p:sp>
        <p:nvSpPr>
          <p:cNvPr id="34" name="Text 32"/>
          <p:cNvSpPr/>
          <p:nvPr/>
        </p:nvSpPr>
        <p:spPr>
          <a:xfrm>
            <a:off x="694944" y="3337560"/>
            <a:ext cx="1645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6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HUM_HIGH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377440" y="333756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Humedad &gt; umbral máximo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" y="3886200"/>
            <a:ext cx="411480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47472" y="3941064"/>
            <a:ext cx="274320" cy="274320"/>
          </a:xfrm>
          <a:prstGeom prst="ellipse">
            <a:avLst/>
          </a:prstGeom>
          <a:solidFill>
            <a:srgbClr val="FCD34D"/>
          </a:solidFill>
          <a:ln/>
        </p:spPr>
      </p:sp>
      <p:sp>
        <p:nvSpPr>
          <p:cNvPr id="38" name="Text 36"/>
          <p:cNvSpPr/>
          <p:nvPr/>
        </p:nvSpPr>
        <p:spPr>
          <a:xfrm>
            <a:off x="694944" y="3886200"/>
            <a:ext cx="1645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6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HUM_LOW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2377440" y="388620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Humedad &lt; umbral mínimo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754880" y="19202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Comportamiento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754880" y="2176272"/>
            <a:ext cx="41148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864608" y="2176272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Cooldown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852160" y="2176272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6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minutos entre alarmas del mismo tipo por dispositivo (evita spam)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54880" y="2596896"/>
            <a:ext cx="4114800" cy="384048"/>
          </a:xfrm>
          <a:prstGeom prst="roundRect">
            <a:avLst>
              <a:gd name="adj" fmla="val 14286"/>
            </a:avLst>
          </a:prstGeom>
          <a:solidFill>
            <a:srgbClr val="F0FFFE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864608" y="2596896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852160" y="2596896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6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alarma se guarda en Room con timestamp, valor y umbral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754880" y="3017520"/>
            <a:ext cx="41148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4864608" y="301752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Reconocimiento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852160" y="301752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6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puede marcar individual o masivamente como reconocidas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754880" y="3438144"/>
            <a:ext cx="4114800" cy="384048"/>
          </a:xfrm>
          <a:prstGeom prst="roundRect">
            <a:avLst>
              <a:gd name="adj" fmla="val 14286"/>
            </a:avLst>
          </a:prstGeom>
          <a:solidFill>
            <a:srgbClr val="F0FFFE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4864608" y="3438144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852160" y="3438144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6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Conteo de no-reconocidas visible en el tab de navegación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754880" y="3858768"/>
            <a:ext cx="41148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4864608" y="385876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Canales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852160" y="385876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6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separado para alarmas vs. estado del servicio (Android 8+)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754880" y="4279392"/>
            <a:ext cx="4114800" cy="384048"/>
          </a:xfrm>
          <a:prstGeom prst="roundRect">
            <a:avLst>
              <a:gd name="adj" fmla="val 14286"/>
            </a:avLst>
          </a:prstGeom>
          <a:solidFill>
            <a:srgbClr val="F0FFFE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4864608" y="4279392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Umbrales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852160" y="4279392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6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Configurables por dispositivo: temp [15°C, 30°C], hum [30%, 70%]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A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Desafío Técnico: Foreground Service en Android 15 (API 35)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023360" cy="2331720"/>
          </a:xfrm>
          <a:prstGeom prst="roundRect">
            <a:avLst>
              <a:gd name="adj" fmla="val 3922"/>
            </a:avLst>
          </a:prstGeom>
          <a:solidFill>
            <a:srgbClr val="2D0A0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8229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ENCONTRADO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207008"/>
            <a:ext cx="374904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FGS timeout
</a:t>
            </a:r>
            <a:pPr indent="0" marL="0">
              <a:buNone/>
            </a:pPr>
            <a:r>
              <a:rPr lang="en-US" sz="1000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ActivityManager: Stop FGS timeout for service MqttForegroundService; startForegroundCount: 0
</a:t>
            </a:r>
            <a:pPr indent="0" marL="0">
              <a:buNone/>
            </a:pPr>
            <a:r>
              <a:rPr lang="en-US" sz="1000" b="1" dirty="0">
                <a:solidFill>
                  <a:srgbClr val="4DD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 raíz: </a:t>
            </a:r>
            <a:pPr indent="0" marL="0">
              <a:buNone/>
            </a:pPr>
            <a:r>
              <a:rPr lang="en-US" sz="1000" dirty="0">
                <a:solidFill>
                  <a:srgbClr val="B8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FOREGROUND_SERVICE_TYPE_DATA_SYNC está bloqueado en Android 15 (API 35). El sistema mata el servicio si no llama startForeground() con el tipo correcto en &lt; 5 segundos.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822960"/>
            <a:ext cx="4023360" cy="2331720"/>
          </a:xfrm>
          <a:prstGeom prst="roundRect">
            <a:avLst>
              <a:gd name="adj" fmla="val 3922"/>
            </a:avLst>
          </a:prstGeom>
          <a:solidFill>
            <a:srgbClr val="0A201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8229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IMPLEMENTADA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83480" y="1207008"/>
            <a:ext cx="374904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4DD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AndroidManifest.xml
</a:t>
            </a:r>
            <a:pPr indent="0" marL="0">
              <a:buNone/>
            </a:pPr>
            <a:r>
              <a:rPr lang="en-US" sz="1000" i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foregroundServiceType="remoteMessaging"
</a:t>
            </a:r>
            <a:pPr indent="0" marL="0">
              <a:buNone/>
            </a:pPr>
            <a:r>
              <a:rPr lang="en-US" sz="1000" b="1" dirty="0">
                <a:solidFill>
                  <a:srgbClr val="4DD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ServiceCompat.startForeground()
</a:t>
            </a:r>
            <a:pPr indent="0" marL="0">
              <a:buNone/>
            </a:pPr>
            <a:r>
              <a:rPr lang="en-US" sz="1000" dirty="0">
                <a:solidFill>
                  <a:srgbClr val="B8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Pasar el tipo como parámetro (API 34+)
</a:t>
            </a:r>
            <a:pPr indent="0" marL="0">
              <a:buNone/>
            </a:pPr>
            <a:r>
              <a:rPr lang="en-US" sz="1000" b="1" dirty="0">
                <a:solidFill>
                  <a:srgbClr val="4DD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Lógica condicional:
</a:t>
            </a:r>
            <a:pPr indent="0" marL="0">
              <a:buNone/>
            </a:pPr>
            <a:r>
              <a:rPr lang="en-US" sz="1000" dirty="0">
                <a:solidFill>
                  <a:srgbClr val="B8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≥ 33 → REMOTE_MESSAGING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≥ 29 → DATA_SYNC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&lt; 29 → tipo 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3017520"/>
            <a:ext cx="8595360" cy="1719072"/>
          </a:xfrm>
          <a:prstGeom prst="roundRect">
            <a:avLst>
              <a:gd name="adj" fmla="val 4255"/>
            </a:avLst>
          </a:prstGeom>
          <a:solidFill>
            <a:srgbClr val="253332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3090672"/>
            <a:ext cx="8321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DDB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ServiceCompat</a:t>
            </a:r>
            <a:pPr indent="0" marL="0">
              <a:buNone/>
            </a:pPr>
            <a:r>
              <a:rPr lang="en-US" sz="1050" dirty="0">
                <a:solidFill>
                  <a:srgbClr val="B8FB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.startForeground(this, NOTIFICATION_ID, notification,
</a:t>
            </a:r>
            <a:pPr indent="0" marL="0">
              <a:buNone/>
            </a:pPr>
            <a:r>
              <a:rPr lang="en-US" sz="1050" dirty="0">
                <a:solidFill>
                  <a:srgbClr val="B8FB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{
</a:t>
            </a:r>
            <a:pPr indent="0" marL="0">
              <a:buNone/>
            </a:pPr>
            <a:r>
              <a:rPr lang="en-US" sz="1050" dirty="0">
                <a:solidFill>
                  <a:srgbClr val="B8FB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SDK_INT &gt;= TIRAMISU  -&gt; ServiceInfo.</a:t>
            </a:r>
            <a:pPr indent="0" marL="0">
              <a:buNone/>
            </a:pPr>
            <a:r>
              <a:rPr lang="en-US" sz="10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FOREGROUND_SERVICE_TYPE_REMOTE_MESSAGING
</a:t>
            </a:r>
            <a:pPr indent="0" marL="0">
              <a:buNone/>
            </a:pPr>
            <a:r>
              <a:rPr lang="en-US" sz="1050" dirty="0">
                <a:solidFill>
                  <a:srgbClr val="B8FB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SDK_INT &gt;= Q         -&gt; ServiceInfo.</a:t>
            </a:r>
            <a:pPr indent="0" marL="0">
              <a:buNone/>
            </a:pPr>
            <a:r>
              <a:rPr lang="en-US" sz="1050" dirty="0">
                <a:solidFill>
                  <a:srgbClr val="EF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FOREGROUND_SERVICE_TYPE_DATA_SYNC
</a:t>
            </a:r>
            <a:pPr indent="0" marL="0">
              <a:buNone/>
            </a:pPr>
            <a:r>
              <a:rPr lang="en-US" sz="1050" dirty="0">
                <a:solidFill>
                  <a:srgbClr val="B8FB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                 -&gt; 0
</a:t>
            </a:r>
            <a:pPr indent="0" marL="0">
              <a:buNone/>
            </a:pPr>
            <a:r>
              <a:rPr lang="en-US" sz="1050" dirty="0">
                <a:solidFill>
                  <a:srgbClr val="B8FB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06A6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680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en funcionamiento real — nodo-2 activo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56032" y="1097280"/>
            <a:ext cx="1993392" cy="1005840"/>
          </a:xfrm>
          <a:prstGeom prst="roundRect">
            <a:avLst>
              <a:gd name="adj" fmla="val 9091"/>
            </a:avLst>
          </a:prstGeom>
          <a:solidFill>
            <a:srgbClr val="006A63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6032" y="1097280"/>
            <a:ext cx="19933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56032" y="1645920"/>
            <a:ext cx="19933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Lecturas recibidas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56032" y="1865376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recepción en pruebas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68880" y="1097280"/>
            <a:ext cx="1993392" cy="1005840"/>
          </a:xfrm>
          <a:prstGeom prst="roundRect">
            <a:avLst>
              <a:gd name="adj" fmla="val 9091"/>
            </a:avLst>
          </a:prstGeom>
          <a:solidFill>
            <a:srgbClr val="0077B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68880" y="1097280"/>
            <a:ext cx="19933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3 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468880" y="1645920"/>
            <a:ext cx="19933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Latencia E2E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468880" y="1865376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 → app Android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681728" y="1097280"/>
            <a:ext cx="1993392" cy="1005840"/>
          </a:xfrm>
          <a:prstGeom prst="roundRect">
            <a:avLst>
              <a:gd name="adj" fmla="val 9091"/>
            </a:avLst>
          </a:prstGeom>
          <a:solidFill>
            <a:srgbClr val="EF535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81728" y="1097280"/>
            <a:ext cx="19933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tipos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681728" y="1645920"/>
            <a:ext cx="19933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Alarmas detectadas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681728" y="1865376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alta/baja · hum alta/baja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894576" y="1097280"/>
            <a:ext cx="1993392" cy="1005840"/>
          </a:xfrm>
          <a:prstGeom prst="roundRect">
            <a:avLst>
              <a:gd name="adj" fmla="val 9091"/>
            </a:avLst>
          </a:prstGeom>
          <a:solidFill>
            <a:srgbClr val="4A148C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94576" y="1097280"/>
            <a:ext cx="19933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nodo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894576" y="1645920"/>
            <a:ext cx="19933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894576" y="1865376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lorawan_node_1 (nodo-2)</a:t>
            </a:r>
            <a:endParaRPr lang="en-US" sz="8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274320" y="2286000"/>
          <a:ext cx="420624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3" name="Chart 1" descr=""/>
          <p:cNvGraphicFramePr/>
          <p:nvPr/>
        </p:nvGraphicFramePr>
        <p:xfrm>
          <a:off x="4663440" y="2286000"/>
          <a:ext cx="420624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A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06A6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297680" cy="1261872"/>
          </a:xfrm>
          <a:prstGeom prst="roundRect">
            <a:avLst>
              <a:gd name="adj" fmla="val 7246"/>
            </a:avLst>
          </a:prstGeom>
          <a:solidFill>
            <a:srgbClr val="253332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978408"/>
            <a:ext cx="329184" cy="329184"/>
          </a:xfrm>
          <a:prstGeom prst="ellipse">
            <a:avLst/>
          </a:prstGeom>
          <a:solidFill>
            <a:srgbClr val="006A63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9784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86384" y="9601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D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end-to-end exitosa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325880"/>
            <a:ext cx="400507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8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demostró que es posible construir un sistema IoT completo — desde el sensor físico hasta la notificación en el smartphone — usando exclusivamente tecnologías open-source y estándares abiertos (LoRaWAN, MQTT, Android).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258568"/>
            <a:ext cx="4297680" cy="1261872"/>
          </a:xfrm>
          <a:prstGeom prst="roundRect">
            <a:avLst>
              <a:gd name="adj" fmla="val 7246"/>
            </a:avLst>
          </a:prstGeom>
          <a:solidFill>
            <a:srgbClr val="253332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4048" y="2368296"/>
            <a:ext cx="329184" cy="329184"/>
          </a:xfrm>
          <a:prstGeom prst="ellipse">
            <a:avLst/>
          </a:prstGeom>
          <a:solidFill>
            <a:srgbClr val="006A63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236829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86384" y="235000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D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 y continuidad demostradas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715768"/>
            <a:ext cx="400507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8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Foreground Service con tipo REMOTE_MESSAGING mantiene la conexión MQTT activa incluso con la app en segundo plano en Android 15, superando las restricciones de la plataforma.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648456"/>
            <a:ext cx="4297680" cy="1261872"/>
          </a:xfrm>
          <a:prstGeom prst="roundRect">
            <a:avLst>
              <a:gd name="adj" fmla="val 7246"/>
            </a:avLst>
          </a:prstGeom>
          <a:solidFill>
            <a:srgbClr val="253332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4048" y="3758184"/>
            <a:ext cx="329184" cy="329184"/>
          </a:xfrm>
          <a:prstGeom prst="ellipse">
            <a:avLst/>
          </a:prstGeom>
          <a:solidFill>
            <a:srgbClr val="006A63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" y="375818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86384" y="373989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D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reactiva y accesible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105656"/>
            <a:ext cx="400507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8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Jetpack Compose con StateFlow permite una UI que reacciona instantáneamente a nuevas lecturas. La codificación por color (MetricStatus) hace intuitiva la detección visual de anomalías.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92040" y="868680"/>
            <a:ext cx="4297680" cy="1261872"/>
          </a:xfrm>
          <a:prstGeom prst="roundRect">
            <a:avLst>
              <a:gd name="adj" fmla="val 7246"/>
            </a:avLst>
          </a:prstGeom>
          <a:solidFill>
            <a:srgbClr val="253332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01768" y="978408"/>
            <a:ext cx="329184" cy="329184"/>
          </a:xfrm>
          <a:prstGeom prst="ellipse">
            <a:avLst/>
          </a:prstGeom>
          <a:solidFill>
            <a:srgbClr val="006A63"/>
          </a:solidFill>
          <a:ln/>
        </p:spPr>
      </p:sp>
      <p:sp>
        <p:nvSpPr>
          <p:cNvPr id="22" name="Text 20"/>
          <p:cNvSpPr/>
          <p:nvPr/>
        </p:nvSpPr>
        <p:spPr>
          <a:xfrm>
            <a:off x="5001768" y="9784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04104" y="9601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D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escalable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74920" y="1325880"/>
            <a:ext cx="400507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8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patrón Repository + ViewModel + Room permite agregar nuevos sensores, variables y tipos de alarma con cambios mínimos. El sistema está listo para crecer a múltiples nodos.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92040" y="2258568"/>
            <a:ext cx="4297680" cy="1261872"/>
          </a:xfrm>
          <a:prstGeom prst="roundRect">
            <a:avLst>
              <a:gd name="adj" fmla="val 7246"/>
            </a:avLst>
          </a:prstGeom>
          <a:solidFill>
            <a:srgbClr val="253332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01768" y="2368296"/>
            <a:ext cx="329184" cy="329184"/>
          </a:xfrm>
          <a:prstGeom prst="ellipse">
            <a:avLst/>
          </a:prstGeom>
          <a:solidFill>
            <a:srgbClr val="006A63"/>
          </a:solidFill>
          <a:ln/>
        </p:spPr>
      </p:sp>
      <p:sp>
        <p:nvSpPr>
          <p:cNvPr id="27" name="Text 25"/>
          <p:cNvSpPr/>
          <p:nvPr/>
        </p:nvSpPr>
        <p:spPr>
          <a:xfrm>
            <a:off x="5001768" y="236829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04104" y="235000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D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por diseño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74920" y="2715768"/>
            <a:ext cx="400507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8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credenciales TTI (API Key) se almacenan en DataStore Preferences y el usuario las ingresa manualmente en la app. Nunca se incluyen en el código fuente ni en el repositorio.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92040" y="3648456"/>
            <a:ext cx="4297680" cy="1261872"/>
          </a:xfrm>
          <a:prstGeom prst="roundRect">
            <a:avLst>
              <a:gd name="adj" fmla="val 7246"/>
            </a:avLst>
          </a:prstGeom>
          <a:solidFill>
            <a:srgbClr val="253332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001768" y="3758184"/>
            <a:ext cx="329184" cy="329184"/>
          </a:xfrm>
          <a:prstGeom prst="ellipse">
            <a:avLst/>
          </a:prstGeom>
          <a:solidFill>
            <a:srgbClr val="006A63"/>
          </a:solidFill>
          <a:ln/>
        </p:spPr>
      </p:sp>
      <p:sp>
        <p:nvSpPr>
          <p:cNvPr id="32" name="Text 30"/>
          <p:cNvSpPr/>
          <p:nvPr/>
        </p:nvSpPr>
        <p:spPr>
          <a:xfrm>
            <a:off x="5001768" y="375818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04104" y="373989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D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con datos reales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74920" y="4105656"/>
            <a:ext cx="400507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8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fue verificado con el nodo lorawan_node_1 transmitiendo datos reales a TTI: 21.7 °C y 53.6 % RH recibidos en tiempo real, confirmando el ciclo completo de extremo a extremo.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06A6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Trabajo Futuro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680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Líneas de mejora y extensión del sistema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56032" y="960120"/>
            <a:ext cx="2670048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93192" y="1097280"/>
            <a:ext cx="457200" cy="457200"/>
          </a:xfrm>
          <a:prstGeom prst="ellipse">
            <a:avLst/>
          </a:prstGeom>
          <a:solidFill>
            <a:srgbClr val="006A63"/>
          </a:solidFill>
          <a:ln/>
        </p:spPr>
      </p:sp>
      <p:sp>
        <p:nvSpPr>
          <p:cNvPr id="8" name="Text 6"/>
          <p:cNvSpPr/>
          <p:nvPr/>
        </p:nvSpPr>
        <p:spPr>
          <a:xfrm>
            <a:off x="393192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LW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1097280"/>
            <a:ext cx="18928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Múltiples nodos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93192" y="1581912"/>
            <a:ext cx="244144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para flotas de 10+ dispositivos LoRaWAN con mapa de ubicación geográfica en la app.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08960" y="960120"/>
            <a:ext cx="2670048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097280"/>
            <a:ext cx="457200" cy="457200"/>
          </a:xfrm>
          <a:prstGeom prst="ellipse">
            <a:avLst/>
          </a:prstGeom>
          <a:solidFill>
            <a:srgbClr val="0077B6"/>
          </a:solidFill>
          <a:ln/>
        </p:spPr>
      </p:sp>
      <p:sp>
        <p:nvSpPr>
          <p:cNvPr id="13" name="Text 11"/>
          <p:cNvSpPr/>
          <p:nvPr/>
        </p:nvSpPr>
        <p:spPr>
          <a:xfrm>
            <a:off x="324612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767328" y="1097280"/>
            <a:ext cx="18928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en la nube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246120" y="1581912"/>
            <a:ext cx="244144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(Node.js/FastAPI) para sincronizar histórico entre dispositivos y acceso web.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61888" y="960120"/>
            <a:ext cx="2670048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99048" y="1097280"/>
            <a:ext cx="457200" cy="457200"/>
          </a:xfrm>
          <a:prstGeom prst="ellipse">
            <a:avLst/>
          </a:prstGeom>
          <a:solidFill>
            <a:srgbClr val="4A148C"/>
          </a:solidFill>
          <a:ln/>
        </p:spPr>
      </p:sp>
      <p:sp>
        <p:nvSpPr>
          <p:cNvPr id="18" name="Text 16"/>
          <p:cNvSpPr/>
          <p:nvPr/>
        </p:nvSpPr>
        <p:spPr>
          <a:xfrm>
            <a:off x="6099048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620256" y="1097280"/>
            <a:ext cx="18928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ML de anomalías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099048" y="1581912"/>
            <a:ext cx="244144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TFLite on-device para detectar patrones inusuales sin configurar umbrales manuales.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6032" y="2487168"/>
            <a:ext cx="2670048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93192" y="2624328"/>
            <a:ext cx="457200" cy="457200"/>
          </a:xfrm>
          <a:prstGeom prst="ellipse">
            <a:avLst/>
          </a:prstGeom>
          <a:solidFill>
            <a:srgbClr val="1B5E20"/>
          </a:solidFill>
          <a:ln/>
        </p:spPr>
      </p:sp>
      <p:sp>
        <p:nvSpPr>
          <p:cNvPr id="23" name="Text 21"/>
          <p:cNvSpPr/>
          <p:nvPr/>
        </p:nvSpPr>
        <p:spPr>
          <a:xfrm>
            <a:off x="393192" y="2624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14400" y="2624328"/>
            <a:ext cx="18928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energía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93192" y="3108960"/>
            <a:ext cx="244144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 batería de nodos y alertas de nivel bajo. Optimización de SF y ADR.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108960" y="2487168"/>
            <a:ext cx="2670048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46120" y="2624328"/>
            <a:ext cx="457200" cy="457200"/>
          </a:xfrm>
          <a:prstGeom prst="ellipse">
            <a:avLst/>
          </a:prstGeom>
          <a:solidFill>
            <a:srgbClr val="6D4C41"/>
          </a:solidFill>
          <a:ln/>
        </p:spPr>
      </p:sp>
      <p:sp>
        <p:nvSpPr>
          <p:cNvPr id="28" name="Text 26"/>
          <p:cNvSpPr/>
          <p:nvPr/>
        </p:nvSpPr>
        <p:spPr>
          <a:xfrm>
            <a:off x="3246120" y="2624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767328" y="2624328"/>
            <a:ext cx="18928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D4C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avanzada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246120" y="3108960"/>
            <a:ext cx="244144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Certificados de cliente mTLS, rotación automática de API Keys y cifrado E2E de payloads.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61888" y="2487168"/>
            <a:ext cx="2670048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99048" y="2624328"/>
            <a:ext cx="457200" cy="457200"/>
          </a:xfrm>
          <a:prstGeom prst="ellipse">
            <a:avLst/>
          </a:prstGeom>
          <a:solidFill>
            <a:srgbClr val="37474F"/>
          </a:solidFill>
          <a:ln/>
        </p:spPr>
      </p:sp>
      <p:sp>
        <p:nvSpPr>
          <p:cNvPr id="33" name="Text 31"/>
          <p:cNvSpPr/>
          <p:nvPr/>
        </p:nvSpPr>
        <p:spPr>
          <a:xfrm>
            <a:off x="6099048" y="2624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620256" y="2624328"/>
            <a:ext cx="18928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Exportación de datos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099048" y="3108960"/>
            <a:ext cx="244144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series temporales a CSV/Excel para análisis en herramientas externas (R, Python).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56032" y="3977640"/>
            <a:ext cx="8631936" cy="777240"/>
          </a:xfrm>
          <a:prstGeom prst="roundRect">
            <a:avLst>
              <a:gd name="adj" fmla="val 11765"/>
            </a:avLst>
          </a:prstGeom>
          <a:solidFill>
            <a:srgbClr val="006A63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11480" y="3977640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FF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Agradecimientos: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los profesores del programa IoT &amp; Redes, al equipo de The Things Industries por su plataforma abierta, y a la comunidad de Kotlin/Compose por la documentación de calidad.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Monitoreo Ambiental IoT — App Android</dc:title>
  <dc:subject>PptxGenJS Presentation</dc:subject>
  <dc:creator>Edison Andrés Arteaga López</dc:creator>
  <cp:lastModifiedBy>Edison Andrés Arteaga López</cp:lastModifiedBy>
  <cp:revision>1</cp:revision>
  <dcterms:created xsi:type="dcterms:W3CDTF">2026-06-18T16:55:52Z</dcterms:created>
  <dcterms:modified xsi:type="dcterms:W3CDTF">2026-06-18T16:55:52Z</dcterms:modified>
</cp:coreProperties>
</file>