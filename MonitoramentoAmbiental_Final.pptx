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45936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45936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45936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45936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48272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48272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48272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48272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50608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50608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50608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50608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150608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52944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52944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552944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552944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955280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955280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357616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57616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57616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57616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57616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759952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759952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59952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759952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59952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25603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2920" y="713232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Ambientes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502920" y="18470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Android IoT Embarcado  |  UNICAMP / Instituto Eldorado / Softex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24871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Andres Arteaga Lopez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288950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Professores: Allan M. de Souza  |  Daniel L. Guidoni  |  Juliana F. Borin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Rafael de Oliveira Jarczewski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35844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2026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98080" y="109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" y="4133088"/>
            <a:ext cx="7882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Projeto: "Monitoramento Inteligente de Ambientes — coleta de temperatura e umidade, visualizacao em dashboard e geracao de alertas"  (exemplo exato do enunciado do curso)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 Motivacao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e? Que problema resolve?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1298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1719072"/>
            <a:ext cx="182880" cy="1828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164592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industriais, laboratoriais e residenciais exigem monitoramento continuo de temperatura e umidade.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2414016"/>
            <a:ext cx="182880" cy="1828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2340864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alertas em tempo real pode causar danos a equipamentos, produtos ou saude.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108960"/>
            <a:ext cx="182880" cy="182880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3035808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Solucoes comerciais sao caras, fechadas e pouco personalizaveis.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1298448"/>
            <a:ext cx="4434840" cy="3547872"/>
          </a:xfrm>
          <a:prstGeom prst="roundRect">
            <a:avLst>
              <a:gd name="adj" fmla="val 2062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0016" y="13716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Solucao Proposta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0016" y="168249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IoT end-to-end para coleta, transmissao e visualizacao de dados ambientais com alertas automaticos.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267712"/>
            <a:ext cx="4251960" cy="658368"/>
          </a:xfrm>
          <a:prstGeom prst="roundRect">
            <a:avLst>
              <a:gd name="adj" fmla="val 6944"/>
            </a:avLst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304288"/>
            <a:ext cx="40965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exato do curso: "coleta de temperatura e umidade, visualizacao em dashboard e geracao de alertas"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017520"/>
            <a:ext cx="1380744" cy="1682496"/>
          </a:xfrm>
          <a:prstGeom prst="roundRect">
            <a:avLst>
              <a:gd name="adj" fmla="val 4636"/>
            </a:avLst>
          </a:prstGeom>
          <a:solidFill>
            <a:srgbClr val="E0F2F1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806450000" dist="322580000" dir="162000000000">
              <a:srgbClr val="000000">
                <a:alpha val="10000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0" y="3072384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54880" y="3364992"/>
            <a:ext cx="119786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DHT22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LoRa32v2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99048" y="3017520"/>
            <a:ext cx="1380744" cy="1682496"/>
          </a:xfrm>
          <a:prstGeom prst="roundRect">
            <a:avLst>
              <a:gd name="adj" fmla="val 4636"/>
            </a:avLst>
          </a:prstGeom>
          <a:solidFill>
            <a:srgbClr val="E0F2F1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10241915000000" dist="4096766000000" dir="9720000000000000">
              <a:srgbClr val="000000">
                <a:alpha val="10000000000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90488" y="3072384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Transmissao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90488" y="3364992"/>
            <a:ext cx="119786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TTI Cloud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34656" y="3017520"/>
            <a:ext cx="1380744" cy="1682496"/>
          </a:xfrm>
          <a:prstGeom prst="roundRect">
            <a:avLst>
              <a:gd name="adj" fmla="val 4636"/>
            </a:avLst>
          </a:prstGeom>
          <a:solidFill>
            <a:srgbClr val="E0F2F1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130072320500000000" dist="52028928200000000" dir="583200000000000000000">
              <a:srgbClr val="000000">
                <a:alpha val="1000000000000000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626096" y="3072384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26096" y="3364992"/>
            <a:ext cx="119786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Alarmes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do Curso Integrados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projeto integra os 6 modulos do Curso Android IoT Embarcado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80160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EDE7F6"/>
          </a:solidFill>
          <a:ln w="10160">
            <a:solidFill>
              <a:srgbClr val="5C2D91"/>
            </a:solidFill>
            <a:prstDash val="solid"/>
          </a:ln>
          <a:effectLst>
            <a:outerShdw sx="100000" sy="100000" kx="0" ky="0" algn="bl" rotWithShape="0" blurRad="1.65191847035e+21" dist="660767388140000000000" dir="3.4992e+25">
              <a:srgbClr val="000000">
                <a:alpha val="1e+2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1389888"/>
            <a:ext cx="310896" cy="31089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1389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" y="137160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" y="1682496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Coroutines, threads, Android lifecycle, gerenciamento de processos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2340864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2.0979364573445003e+25" dist="8.391745829378e+24" dir="2.09952e+30">
              <a:srgbClr val="000000">
                <a:alpha val="1e+2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2450592"/>
            <a:ext cx="310896" cy="31089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4128" y="2432304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Basico e Ferramentas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" y="2743200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Gradle + KSP, Logcat, Jetpack Compose, Navigation Component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3401568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  <a:effectLst>
            <a:outerShdw sx="100000" sy="100000" kx="0" ky="0" algn="bl" rotWithShape="0" blurRad="2.6643793008275154e+29" dist="1.0657517203310059e+29" dir="1.259712e+35">
              <a:srgbClr val="000000">
                <a:alpha val="1e+34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" y="3511296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511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24128" y="3493008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3803904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MQTT/TLS (porta 8883), TCP/IP, assinatura topicos v3/{app}/devices/+/up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36592" y="1280160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0160">
            <a:solidFill>
              <a:srgbClr val="E65100"/>
            </a:solidFill>
            <a:prstDash val="solid"/>
          </a:ln>
          <a:effectLst>
            <a:outerShdw sx="100000" sy="100000" kx="0" ky="0" algn="bl" rotWithShape="0" blurRad="3.3837617120509443e+33" dist="1.3535046848203775e+33" dir="7.558272e+39">
              <a:srgbClr val="000000">
                <a:alpha val="1e+39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1389888"/>
            <a:ext cx="310896" cy="31089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1389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0" y="137160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Embarcado e Framework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0" y="1682496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LifecycleService (ForegroundService), DataStore Preferences, Room 2.7, Material3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36592" y="2340864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  <a:effectLst>
            <a:outerShdw sx="100000" sy="100000" kx="0" ky="0" algn="bl" rotWithShape="0" blurRad="4.297377374304699e+37" dist="1.7189509497218795e+37" dir="4.5349632000000006e+44">
              <a:srgbClr val="000000">
                <a:alpha val="9.999999999999999e+43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28032" y="2450592"/>
            <a:ext cx="310896" cy="31089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0" name="Text 48"/>
          <p:cNvSpPr/>
          <p:nvPr/>
        </p:nvSpPr>
        <p:spPr>
          <a:xfrm>
            <a:off x="4828032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12080" y="2432304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Sem Fio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0" y="2743200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AU915, modulacao LoRa (SF7-SF12), ADR, sensibilidade -135 dBm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36592" y="3401568"/>
            <a:ext cx="4005072" cy="914400"/>
          </a:xfrm>
          <a:prstGeom prst="roundRect">
            <a:avLst>
              <a:gd name="adj" fmla="val 7000"/>
            </a:avLst>
          </a:prstGeom>
          <a:solidFill>
            <a:srgbClr val="E0F2F1"/>
          </a:solidFill>
          <a:ln w="10160">
            <a:solidFill>
              <a:srgbClr val="006A63"/>
            </a:solidFill>
            <a:prstDash val="solid"/>
          </a:ln>
          <a:effectLst>
            <a:outerShdw sx="100000" sy="100000" kx="0" ky="0" algn="bl" rotWithShape="0" blurRad="5.457669265366968e+41" dist="2.183067706146787e+41" dir="2.72097792e+49">
              <a:srgbClr val="000000">
                <a:alpha val="1e+49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28032" y="3511296"/>
            <a:ext cx="310896" cy="31089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5" name="Text 53"/>
          <p:cNvSpPr/>
          <p:nvPr/>
        </p:nvSpPr>
        <p:spPr>
          <a:xfrm>
            <a:off x="4828032" y="3511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12080" y="3493008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IoT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46320" y="3803904"/>
            <a:ext cx="38039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Industries (TTI), instancia UNICAMP, Payload Formatter JavaScript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completo: do sensor fisico ao aplicativo Android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316736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5C2D91"/>
          </a:solidFill>
          <a:ln/>
          <a:effectLst>
            <a:outerShdw sx="100000" sy="100000" kx="0" ky="0" algn="bl" rotWithShape="0" blurRad="6.93123996701605e+45" dist="2.7724959868064195e+45" dir="1.6325867520000003e+54">
              <a:srgbClr val="000000">
                <a:alpha val="9.999999999999999e+53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1353312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DHT22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188366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Umidade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956816" y="1591056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8A"/>
                </a:solidFill>
              </a:rPr>
              <a:t>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327148" y="1316736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5C2D91"/>
          </a:solidFill>
          <a:ln/>
          <a:effectLst>
            <a:outerShdw sx="100000" sy="100000" kx="0" ky="0" algn="bl" rotWithShape="0" blurRad="8.802674758110384e+49" dist="3.5210699032441527e+49" dir="9.795520512000002e+58">
              <a:srgbClr val="000000">
                <a:alpha val="9.999999999999999e+58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27148" y="1353312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LoRa32v2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27148" y="188366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LoRaWAN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35324" y="1591056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8A"/>
                </a:solidFill>
              </a:rPr>
              <a:t>&gt;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05656" y="1316736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.1179396942800187e+54" dist="4.471758777120074e+53" dir="5.877312307200001e+63">
              <a:srgbClr val="000000">
                <a:alpha val="9.999999999999999e+63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05656" y="1353312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Dragino LPS8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05656" y="188366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AU915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13832" y="1591056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8A"/>
                </a:solidFill>
              </a:rPr>
              <a:t>&gt;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884164" y="1316736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.419783411735624e+58" dist="5.679133646942494e+57" dir="3.526387384320001e+68">
              <a:srgbClr val="000000">
                <a:alpha val="9.999999999999999e+68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84164" y="1353312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Cloud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(UNICAMP)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84164" y="188366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unicamp.au1...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292340" y="1591056"/>
            <a:ext cx="3520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8A"/>
                </a:solidFill>
              </a:rPr>
              <a:t>&gt;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662672" y="1316736"/>
            <a:ext cx="1389888" cy="841248"/>
          </a:xfrm>
          <a:prstGeom prst="roundRect">
            <a:avLst>
              <a:gd name="adj" fmla="val 7609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.8031249329042424e+62" dist="7.212499731616968e+61" dir="2.1158324305920003e+73">
              <a:srgbClr val="000000">
                <a:alpha val="9.999999999999998e+73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62672" y="1353312"/>
            <a:ext cx="1389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(Kotlin)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62672" y="188366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Alarmes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" y="2331720"/>
            <a:ext cx="8412480" cy="2176272"/>
          </a:xfrm>
          <a:prstGeom prst="roundRect">
            <a:avLst>
              <a:gd name="adj" fmla="val 2941"/>
            </a:avLst>
          </a:prstGeom>
          <a:solidFill>
            <a:srgbClr val="F8F8FC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" y="23957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Formatter (TTI — JavaScript):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76656" y="2651760"/>
            <a:ext cx="4572000" cy="1170432"/>
          </a:xfrm>
          <a:prstGeom prst="roundRect">
            <a:avLst>
              <a:gd name="adj" fmla="val 3906"/>
            </a:avLst>
          </a:prstGeom>
          <a:solidFill>
            <a:srgbClr val="1E1E2E"/>
          </a:solidFill>
          <a:ln/>
        </p:spPr>
      </p:sp>
      <p:sp>
        <p:nvSpPr>
          <p:cNvPr id="50" name="Text 48"/>
          <p:cNvSpPr/>
          <p:nvPr/>
        </p:nvSpPr>
        <p:spPr>
          <a:xfrm>
            <a:off x="768096" y="2697480"/>
            <a:ext cx="43891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decodeUplink(input)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 = input.bytes;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data: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seq:  b[0],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temp: ((b[1]&lt;&lt;8)|b[2]) / 10.0,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hum:  b[3] / 2.0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49824" y="23957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— nodo-2 (lorawan_node_1):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49824" y="27066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32320" y="27066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C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49824" y="30723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32320" y="30723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53.6 %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49824" y="34381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Seq.: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132320" y="34381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49824" y="3822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AppID: iotdlt  |  Tenant: unicamp  |  Host: unicamp.au1.cloud.thethings.industries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8640" y="4608576"/>
            <a:ext cx="8412480" cy="256032"/>
          </a:xfrm>
          <a:prstGeom prst="roundRect">
            <a:avLst>
              <a:gd name="adj" fmla="val 14286"/>
            </a:avLst>
          </a:prstGeom>
          <a:solidFill>
            <a:srgbClr val="F3F0FA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4636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confirmados com dispositivo real transmitindo via LoRaWAN para instancia privada TTI da UNICAMP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IoT — Hardware Embarcado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Heltec LoRa32v2 (ESP32 + SX1276) + Sensor DHT22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12984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Heltec LoRa32v2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1728216"/>
            <a:ext cx="118872" cy="11887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164592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ESP32 240 MHz dual-core + ULP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2075688"/>
            <a:ext cx="118872" cy="11887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199339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SX1276 — 863~928 MHz (AU915)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2423160"/>
            <a:ext cx="118872" cy="11887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" y="23408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802.11 b/g/n | Bluetooth 4.2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2770632"/>
            <a:ext cx="118872" cy="11887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26883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GPIO: 22 pinos | I2C, UART, SPI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3118104"/>
            <a:ext cx="118872" cy="11887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" y="303580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 0.96" integrado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3465576"/>
            <a:ext cx="118872" cy="11887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" y="338328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Bat. Litio 3.7V conector JST-SH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" y="3813048"/>
            <a:ext cx="118872" cy="11887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" y="37307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Dimensoes: 51 x 25,5 x 10,6 mm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DHT22 / AM2302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728216"/>
            <a:ext cx="118872" cy="118872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45" name="Text 43"/>
          <p:cNvSpPr/>
          <p:nvPr/>
        </p:nvSpPr>
        <p:spPr>
          <a:xfrm>
            <a:off x="4919472" y="1645920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-40 C a +125 C (±0.5 C)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2075688"/>
            <a:ext cx="118872" cy="118872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47" name="Text 45"/>
          <p:cNvSpPr/>
          <p:nvPr/>
        </p:nvSpPr>
        <p:spPr>
          <a:xfrm>
            <a:off x="4919472" y="199339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Umidade: 0% a 100% RH (±2%~5%)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423160"/>
            <a:ext cx="118872" cy="118872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49" name="Text 47"/>
          <p:cNvSpPr/>
          <p:nvPr/>
        </p:nvSpPr>
        <p:spPr>
          <a:xfrm>
            <a:off x="4919472" y="234086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Protocolo: 1-wire digital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2770632"/>
            <a:ext cx="118872" cy="118872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1" name="Text 49"/>
          <p:cNvSpPr/>
          <p:nvPr/>
        </p:nvSpPr>
        <p:spPr>
          <a:xfrm>
            <a:off x="4919472" y="268833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Alimentacao: 3.3 V ~ 6 V, 2.5 mA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3118104"/>
            <a:ext cx="118872" cy="118872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3" name="Text 51"/>
          <p:cNvSpPr/>
          <p:nvPr/>
        </p:nvSpPr>
        <p:spPr>
          <a:xfrm>
            <a:off x="4919472" y="303580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amostragem: 0.5 Hz (1 leitura/2s)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3465576"/>
            <a:ext cx="118872" cy="118872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3383280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Sinal: digital por barramento de dados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54880" y="3813048"/>
            <a:ext cx="118872" cy="118872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7" name="Text 55"/>
          <p:cNvSpPr/>
          <p:nvPr/>
        </p:nvSpPr>
        <p:spPr>
          <a:xfrm>
            <a:off x="4919472" y="373075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Pinos: VDD / DATA / GND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80560" y="1280160"/>
            <a:ext cx="9144" cy="2907792"/>
          </a:xfrm>
          <a:prstGeom prst="rect">
            <a:avLst/>
          </a:prstGeom>
          <a:solidFill>
            <a:srgbClr val="DDDDEE"/>
          </a:solidFill>
          <a:ln/>
        </p:spPr>
      </p:sp>
      <p:sp>
        <p:nvSpPr>
          <p:cNvPr id="59" name="Shape 57"/>
          <p:cNvSpPr/>
          <p:nvPr/>
        </p:nvSpPr>
        <p:spPr>
          <a:xfrm>
            <a:off x="594360" y="4352544"/>
            <a:ext cx="7955280" cy="530352"/>
          </a:xfrm>
          <a:prstGeom prst="roundRect">
            <a:avLst>
              <a:gd name="adj" fmla="val 10345"/>
            </a:avLst>
          </a:prstGeom>
          <a:solidFill>
            <a:srgbClr val="E0F2F1"/>
          </a:solidFill>
          <a:ln w="6350">
            <a:solidFill>
              <a:srgbClr val="006A6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4407408"/>
            <a:ext cx="7717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LoRaWAN:   Frequencia: AU915  |  Ativacao: OTAA  |  AppID: iotdlt  |  Tenant: unicamp  |  Gateway: Dragino LPS8  |  SF: 7~12 (ADR)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IoT: The Things Industries (TTI)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privada UNICAMP para gerenciamento de dispositivos LoRaWAN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2670048" cy="3218688"/>
          </a:xfrm>
          <a:prstGeom prst="roundRect">
            <a:avLst>
              <a:gd name="adj" fmla="val 2397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2.289968664788388e+66" dist="9.15987465915355e+65" dir="1.2694994583552002e+78">
              <a:srgbClr val="000000">
                <a:alpha val="9.999999999999998e+78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1335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TTI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" y="166420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unicamp.au1.cloud.thethings.industries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" y="204825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AppID: iotdlt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" y="24323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unicamp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8368" y="28163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lorawan_node_1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8368" y="32004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EUI registrado via OTAA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8368" y="358444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Plano: AU915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37560" y="1261872"/>
            <a:ext cx="2670048" cy="3218688"/>
          </a:xfrm>
          <a:prstGeom prst="roundRect">
            <a:avLst>
              <a:gd name="adj" fmla="val 2397"/>
            </a:avLst>
          </a:prstGeom>
          <a:solidFill>
            <a:srgbClr val="F0EEF8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2.908260204281253e+70" dist="1.1633040817125008e+70" dir="7.616996750131201e+82">
              <a:srgbClr val="000000">
                <a:alpha val="9.999999999999998e+83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29000" y="1335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1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Formatter (JS)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47288" y="166420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decodeUplink(input) {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47288" y="204825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 = input.bytes;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47288" y="24323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data: {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47288" y="28163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seq:  b[0],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47288" y="32004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temp: ((b[1]&lt;&lt;8)|b[2])/10.0,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47288" y="358444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hum:  b[3]/2.0 }};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47288" y="396849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1261872"/>
            <a:ext cx="2670048" cy="3218688"/>
          </a:xfrm>
          <a:prstGeom prst="roundRect">
            <a:avLst>
              <a:gd name="adj" fmla="val 2397"/>
            </a:avLst>
          </a:prstGeom>
          <a:solidFill>
            <a:srgbClr val="E0F2F1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3.693490459437191e+74" dist="1.477396183774876e+74" dir="4.57019805007872e+87">
              <a:srgbClr val="000000">
                <a:alpha val="9.999999999999999e+88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17920" y="1335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MQTT/TLS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36208" y="166420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Protocolo: MQTT v3.1.1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36208" y="204825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TLS: 8883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36208" y="24323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Topico: v3/{app}@{tenant}/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36208" y="28163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devices/+/up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36208" y="32004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AppID + API Key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36208" y="358444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Biblioteca: HiveMQ 1.3.3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8640" y="4608576"/>
            <a:ext cx="8412480" cy="256032"/>
          </a:xfrm>
          <a:prstGeom prst="roundRect">
            <a:avLst>
              <a:gd name="adj" fmla="val 14286"/>
            </a:avLst>
          </a:prstGeom>
          <a:solidFill>
            <a:srgbClr val="F8F8FC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636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e uma plataforma LoRaWAN de nivel empresarial — a UNICAMP disponibiliza uma instancia dedicada para o curso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Aplicativo Android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 — Android Architecture Guidelines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1261872"/>
            <a:ext cx="7955280" cy="713232"/>
          </a:xfrm>
          <a:prstGeom prst="roundRect">
            <a:avLst>
              <a:gd name="adj" fmla="val 7692"/>
            </a:avLst>
          </a:prstGeom>
          <a:solidFill>
            <a:srgbClr val="EDE7F6"/>
          </a:solidFill>
          <a:ln w="10160">
            <a:solidFill>
              <a:srgbClr val="5C2D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133502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Interface (UI)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16276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 |  Material 3  |  ViewModel  |  Navigation Compose 2.8  |  Grafico Canvas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2066544"/>
            <a:ext cx="7955280" cy="713232"/>
          </a:xfrm>
          <a:prstGeom prst="roundRect">
            <a:avLst>
              <a:gd name="adj" fmla="val 7692"/>
            </a:avLst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213969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Dominio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243230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 |  AlarmEngine  |  MetricStatus (OK / LOW / HIGH)  |  Modelos de dados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2871216"/>
            <a:ext cx="7955280" cy="713232"/>
          </a:xfrm>
          <a:prstGeom prst="roundRect">
            <a:avLst>
              <a:gd name="adj" fmla="val 7692"/>
            </a:avLst>
          </a:prstGeom>
          <a:solidFill>
            <a:srgbClr val="E0F2F1"/>
          </a:solidFill>
          <a:ln w="10160">
            <a:solidFill>
              <a:srgbClr val="006A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294436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Dados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32369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2.7.0 (SQLite local)  |  DataStore Preferences (credenciais)  |  kotlinx.serialization (JSON TTI)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" y="3675888"/>
            <a:ext cx="7955280" cy="713232"/>
          </a:xfrm>
          <a:prstGeom prst="roundRect">
            <a:avLst>
              <a:gd name="adj" fmla="val 7692"/>
            </a:avLst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37490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 em Segundo Plano (MQTT)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" y="404164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MqttForegroundService (LifecycleService)  |  HiveMQ 1.3.3 TLS  |  FOREGROUND_SERVICE_TYPE_REMOTE_MESSAGING (API 35)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" y="4517136"/>
            <a:ext cx="7955280" cy="274320"/>
          </a:xfrm>
          <a:prstGeom prst="roundRect">
            <a:avLst>
              <a:gd name="adj" fmla="val 13333"/>
            </a:avLst>
          </a:prstGeom>
          <a:solidFill>
            <a:srgbClr val="F8F8FC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54456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Injecao de Dependencias: manual via AppContainer (sem Hilt)  |  KSP 2.1.0-1.0.29 para Room  |  AGP 9.0  |  android.disallowKotlinSourceSets=false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Tecnologias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completo do projeto — linguagens, frameworks, bibliotecas e infraestrutura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2670048" cy="3218688"/>
          </a:xfrm>
          <a:prstGeom prst="roundRect">
            <a:avLst>
              <a:gd name="adj" fmla="val 2397"/>
            </a:avLst>
          </a:prstGeom>
          <a:solidFill>
            <a:srgbClr val="EDE7F6"/>
          </a:solidFill>
          <a:ln w="10160">
            <a:solidFill>
              <a:srgbClr val="5C2D91"/>
            </a:solidFill>
            <a:prstDash val="solid"/>
          </a:ln>
          <a:effectLst>
            <a:outerShdw sx="100000" sy="100000" kx="0" ky="0" algn="bl" rotWithShape="0" blurRad="4.690732883485232e+78" dist="1.8762931533940924e+78" dir="2.742118830047232e+92">
              <a:srgbClr val="000000">
                <a:alpha val="9.999999999999998e+93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13258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e IDE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1792224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17007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2.1.0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" y="2249424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21579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(Payload Formatter TTI)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2706624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26151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Ladybug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" y="3163824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0723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8.x + KSP 2.1.0-1.0.29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" y="3621024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5295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 9.0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37560" y="1261872"/>
            <a:ext cx="2670048" cy="3218688"/>
          </a:xfrm>
          <a:prstGeom prst="roundRect">
            <a:avLst>
              <a:gd name="adj" fmla="val 2397"/>
            </a:avLst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5.957230762026245e+82" dist="2.3828923048104974e+82" dir="1.6452712980283393e+97">
              <a:srgbClr val="000000">
                <a:alpha val="9.999999999999998e+98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429000" y="13258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Android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47288" y="17922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3" name="Text 41"/>
          <p:cNvSpPr/>
          <p:nvPr/>
        </p:nvSpPr>
        <p:spPr>
          <a:xfrm>
            <a:off x="3611880" y="17007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47288" y="22494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5" name="Text 43"/>
          <p:cNvSpPr/>
          <p:nvPr/>
        </p:nvSpPr>
        <p:spPr>
          <a:xfrm>
            <a:off x="3611880" y="21579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2.7.0 (persistencia local)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47288" y="27066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7" name="Text 45"/>
          <p:cNvSpPr/>
          <p:nvPr/>
        </p:nvSpPr>
        <p:spPr>
          <a:xfrm>
            <a:off x="3611880" y="26151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Preferences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47288" y="31638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9" name="Text 47"/>
          <p:cNvSpPr/>
          <p:nvPr/>
        </p:nvSpPr>
        <p:spPr>
          <a:xfrm>
            <a:off x="3611880" y="30723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MQTT Client 1.3.3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47288" y="36210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1" name="Text 49"/>
          <p:cNvSpPr/>
          <p:nvPr/>
        </p:nvSpPr>
        <p:spPr>
          <a:xfrm>
            <a:off x="3611880" y="35295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kotlinx.serialization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47288" y="40782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3" name="Text 51"/>
          <p:cNvSpPr/>
          <p:nvPr/>
        </p:nvSpPr>
        <p:spPr>
          <a:xfrm>
            <a:off x="3611880" y="39867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Compose 2.8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1261872"/>
            <a:ext cx="2670048" cy="3218688"/>
          </a:xfrm>
          <a:prstGeom prst="roundRect">
            <a:avLst>
              <a:gd name="adj" fmla="val 2397"/>
            </a:avLst>
          </a:prstGeom>
          <a:solidFill>
            <a:srgbClr val="E0F2F1"/>
          </a:solidFill>
          <a:ln w="10160">
            <a:solidFill>
              <a:srgbClr val="006A63"/>
            </a:solidFill>
            <a:prstDash val="solid"/>
          </a:ln>
          <a:effectLst>
            <a:outerShdw sx="100000" sy="100000" kx="0" ky="0" algn="bl" rotWithShape="0" blurRad="7.565683067773332e+86" dist="3.0262732271093317e+86" dir="9.871627788170037e+101">
              <a:srgbClr val="000000">
                <a:alpha val="9.999999999999998e+103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17920" y="132588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 Infraestrutura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236208" y="1792224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0" y="17007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LoRa32v2 Heltec (ESP32+SX1276)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36208" y="2249424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0" y="21579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DHT22 / AM2302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36208" y="2706624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0" y="26151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Dragino LPS8 (SX1302)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36208" y="3163824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3" name="Text 61"/>
          <p:cNvSpPr/>
          <p:nvPr/>
        </p:nvSpPr>
        <p:spPr>
          <a:xfrm>
            <a:off x="6400800" y="30723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Industries (TTI)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36208" y="3621024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35295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AU915 | OTAA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36208" y="4078224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0" y="3986784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 porta 8883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8640" y="4608576"/>
            <a:ext cx="8412480" cy="256032"/>
          </a:xfrm>
          <a:prstGeom prst="roundRect">
            <a:avLst>
              <a:gd name="adj" fmla="val 14286"/>
            </a:avLst>
          </a:prstGeom>
          <a:solidFill>
            <a:srgbClr val="F8F8FC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4636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Android 8.0+ (API 26+)  |  Testado em: API 26, API 30, API 35 (Android 15)  |  Arquitetura: ARM64-v8a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Basico — Fluxo de Dados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sensor fisico a notificacao no smartphone em menos de 2 segundos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5C2D91"/>
          </a:solidFill>
          <a:ln/>
          <a:effectLst>
            <a:outerShdw sx="100000" sy="100000" kx="0" ky="0" algn="bl" rotWithShape="0" blurRad="9.608417496072131e+90" dist="3.8433669984288512e+90" dir="5.9229766729020215e+106">
              <a:srgbClr val="000000">
                <a:alpha val="9.999999999999998e+108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dados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17904" y="1627632"/>
            <a:ext cx="101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28938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5C2D91"/>
          </a:solidFill>
          <a:ln/>
          <a:effectLst>
            <a:outerShdw sx="100000" sy="100000" kx="0" ky="0" algn="bl" rotWithShape="0" blurRad="1.2202690220011606e+95" dist="4.8810760880046414e+94" dir="3.553786003741213e+111">
              <a:srgbClr val="000000">
                <a:alpha val="9.999999999999997e+113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28938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52482" y="1627632"/>
            <a:ext cx="101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63517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6A1B9A"/>
          </a:solidFill>
          <a:ln/>
          <a:effectLst>
            <a:outerShdw sx="100000" sy="100000" kx="0" ky="0" algn="bl" rotWithShape="0" blurRad="1.549741657941474e+99" dist="6.198966631765894e+98" dir="2.1322716022447277e+116">
              <a:srgbClr val="000000">
                <a:alpha val="9.999999999999998e+118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663517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87061" y="1627632"/>
            <a:ext cx="101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98095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.9681719055856718e+103" dist="7.872687622342685e+102" dir="1.2793629613468366e+121">
              <a:srgbClr val="000000">
                <a:alpha val="9.999999999999997e+123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98095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21639" y="1627632"/>
            <a:ext cx="101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2673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006A63"/>
          </a:solidFill>
          <a:ln/>
          <a:effectLst>
            <a:outerShdw sx="100000" sy="100000" kx="0" ky="0" algn="bl" rotWithShape="0" blurRad="2.4995783200938032e+107" dist="9.998313280375211e+106" dir="7.67617776808102e+125">
              <a:srgbClr val="000000">
                <a:alpha val="9.999999999999997e+128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32673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56217" y="1627632"/>
            <a:ext cx="101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7251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00695C"/>
          </a:solidFill>
          <a:ln/>
          <a:effectLst>
            <a:outerShdw sx="100000" sy="100000" kx="0" ky="0" algn="bl" rotWithShape="0" blurRad="3.17446446651913e+111" dist="1.2697857866076517e+111" dir="4.605706660848612e+130">
              <a:srgbClr val="000000">
                <a:alpha val="9.999999999999997e+133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767251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90795" y="1627632"/>
            <a:ext cx="101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01830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1A237E"/>
          </a:solidFill>
          <a:ln/>
          <a:effectLst>
            <a:outerShdw sx="100000" sy="100000" kx="0" ky="0" algn="bl" rotWithShape="0" blurRad="4.0315698724792955e+115" dist="1.6126279489917177e+115" dir="2.763423996509167e+135">
              <a:srgbClr val="000000">
                <a:alpha val="9.999999999999998e+138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801830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25374" y="1627632"/>
            <a:ext cx="101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836408" y="1280160"/>
            <a:ext cx="914400" cy="1024128"/>
          </a:xfrm>
          <a:prstGeom prst="roundRect">
            <a:avLst>
              <a:gd name="adj" fmla="val 6000"/>
            </a:avLst>
          </a:prstGeom>
          <a:solidFill>
            <a:srgbClr val="C62828"/>
          </a:solidFill>
          <a:ln/>
          <a:effectLst>
            <a:outerShdw sx="100000" sy="100000" kx="0" ky="0" algn="bl" rotWithShape="0" blurRad="5.120093738048705e+119" dist="2.0480374952194813e+119" dir="1.6580543979055002e+140">
              <a:srgbClr val="000000">
                <a:alpha val="9.999999999999999e+143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836408" y="1280160"/>
            <a:ext cx="914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4360" y="2468880"/>
            <a:ext cx="3931920" cy="2377440"/>
          </a:xfrm>
          <a:prstGeom prst="roundRect">
            <a:avLst>
              <a:gd name="adj" fmla="val 2692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Reconexao Automatica MQTT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31520" y="28346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MqttForegroundService (LifecycleService) usa HiveMQ com auto-reconnect ativado. O servico roda como Foreground Service com notificacao persistente e sobrevive ao fechamento do app. Ao reconectar, resubscreve automaticamente ao topico v3/{app}@{tenant}/devices/+/up.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46888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E0F2F1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2542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Verificacao de Alarmes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46320" y="2834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medicao recebida via MQTT, o AlarmEngine compara temperatura e umidade com os limiares definidos pelo usuario. Se um limiar e violado: dispara NotificationCompat (canal ALARM_CHANNEL), registra o evento no historico Room e atualiza o badge dinamico na aba Alarmes.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 Aplicativo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tempo real, historico e configuracao de alarmes com tema Material3 Teal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1280160"/>
            <a:ext cx="2907792" cy="3273552"/>
          </a:xfrm>
          <a:prstGeom prst="roundRect">
            <a:avLst>
              <a:gd name="adj" fmla="val 6289"/>
            </a:avLst>
          </a:prstGeom>
          <a:solidFill>
            <a:srgbClr val="12121A"/>
          </a:solidFill>
          <a:ln w="17780">
            <a:solidFill>
              <a:srgbClr val="006A63"/>
            </a:solidFill>
            <a:prstDash val="solid"/>
          </a:ln>
          <a:effectLst>
            <a:outerShdw sx="100000" sy="100000" kx="0" ky="0" algn="bl" rotWithShape="0" blurRad="6.502519047321855e+123" dist="2.6010076189287412e+123" dir="9.948326387433002e+144">
              <a:srgbClr val="000000">
                <a:alpha val="9.999999999999998e+148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1609344"/>
            <a:ext cx="2688336" cy="2816352"/>
          </a:xfrm>
          <a:prstGeom prst="roundRect">
            <a:avLst>
              <a:gd name="adj" fmla="val 2041"/>
            </a:avLst>
          </a:prstGeom>
          <a:solidFill>
            <a:srgbClr val="0F1A1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1609344"/>
            <a:ext cx="2688336" cy="310896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16459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" y="19751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lorawan_node_1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" y="235915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 21.7 C   [OK]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4944" y="27432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UMID:  53.6%    [OK]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4944" y="31272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 leitura: seq 4812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4944" y="351129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Grafico: linha historico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" y="389534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Conectado MQTT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56232" y="1371600"/>
            <a:ext cx="256032" cy="137160"/>
          </a:xfrm>
          <a:prstGeom prst="ellipse">
            <a:avLst/>
          </a:prstGeom>
          <a:solidFill>
            <a:srgbClr val="0A0A15"/>
          </a:solidFill>
          <a:ln/>
        </p:spPr>
      </p:sp>
      <p:sp>
        <p:nvSpPr>
          <p:cNvPr id="39" name="Shape 37"/>
          <p:cNvSpPr/>
          <p:nvPr/>
        </p:nvSpPr>
        <p:spPr>
          <a:xfrm>
            <a:off x="3255264" y="1280160"/>
            <a:ext cx="2907792" cy="3273552"/>
          </a:xfrm>
          <a:prstGeom prst="roundRect">
            <a:avLst>
              <a:gd name="adj" fmla="val 6289"/>
            </a:avLst>
          </a:prstGeom>
          <a:solidFill>
            <a:srgbClr val="12121A"/>
          </a:solidFill>
          <a:ln w="17780">
            <a:solidFill>
              <a:srgbClr val="C62828"/>
            </a:solidFill>
            <a:prstDash val="solid"/>
          </a:ln>
          <a:effectLst>
            <a:outerShdw sx="100000" sy="100000" kx="0" ky="0" algn="bl" rotWithShape="0" blurRad="8.258199190098756e+127" dist="3.303279676039501e+127" dir="5.968995832459801e+149">
              <a:srgbClr val="000000">
                <a:alpha val="9.999999999999999e+153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64992" y="1609344"/>
            <a:ext cx="2688336" cy="2816352"/>
          </a:xfrm>
          <a:prstGeom prst="roundRect">
            <a:avLst>
              <a:gd name="adj" fmla="val 2041"/>
            </a:avLst>
          </a:prstGeom>
          <a:solidFill>
            <a:srgbClr val="0F1A19"/>
          </a:solidFill>
          <a:ln/>
        </p:spPr>
      </p:sp>
      <p:sp>
        <p:nvSpPr>
          <p:cNvPr id="41" name="Shape 39"/>
          <p:cNvSpPr/>
          <p:nvPr/>
        </p:nvSpPr>
        <p:spPr>
          <a:xfrm>
            <a:off x="3364992" y="1609344"/>
            <a:ext cx="2688336" cy="3108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2" name="Text 40"/>
          <p:cNvSpPr/>
          <p:nvPr/>
        </p:nvSpPr>
        <p:spPr>
          <a:xfrm>
            <a:off x="3401568" y="16459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19856" y="19751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ativos: 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19856" y="235915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Maxima: 30.0 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19856" y="27432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Minima: 10.0 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19856" y="31272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Umid. Maxima: 80 %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419856" y="351129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Umid. Minima: 30 %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19856" y="389534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Badge: count dinamico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81144" y="1371600"/>
            <a:ext cx="256032" cy="137160"/>
          </a:xfrm>
          <a:prstGeom prst="ellipse">
            <a:avLst/>
          </a:prstGeom>
          <a:solidFill>
            <a:srgbClr val="0A0A15"/>
          </a:solidFill>
          <a:ln/>
        </p:spPr>
      </p:sp>
      <p:sp>
        <p:nvSpPr>
          <p:cNvPr id="50" name="Shape 48"/>
          <p:cNvSpPr/>
          <p:nvPr/>
        </p:nvSpPr>
        <p:spPr>
          <a:xfrm>
            <a:off x="5980176" y="1280160"/>
            <a:ext cx="2907792" cy="3273552"/>
          </a:xfrm>
          <a:prstGeom prst="roundRect">
            <a:avLst>
              <a:gd name="adj" fmla="val 6289"/>
            </a:avLst>
          </a:prstGeom>
          <a:solidFill>
            <a:srgbClr val="12121A"/>
          </a:solidFill>
          <a:ln w="17780">
            <a:solidFill>
              <a:srgbClr val="1565C0"/>
            </a:solidFill>
            <a:prstDash val="solid"/>
          </a:ln>
          <a:effectLst>
            <a:outerShdw sx="100000" sy="100000" kx="0" ky="0" algn="bl" rotWithShape="0" blurRad="1.0487912971425421e+132" dist="4.195165188570166e+131" dir="3.581397499475881e+154">
              <a:srgbClr val="000000">
                <a:alpha val="1e+159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89904" y="1609344"/>
            <a:ext cx="2688336" cy="2816352"/>
          </a:xfrm>
          <a:prstGeom prst="roundRect">
            <a:avLst>
              <a:gd name="adj" fmla="val 2041"/>
            </a:avLst>
          </a:prstGeom>
          <a:solidFill>
            <a:srgbClr val="0F1A19"/>
          </a:solidFill>
          <a:ln/>
        </p:spPr>
      </p:sp>
      <p:sp>
        <p:nvSpPr>
          <p:cNvPr id="52" name="Shape 50"/>
          <p:cNvSpPr/>
          <p:nvPr/>
        </p:nvSpPr>
        <p:spPr>
          <a:xfrm>
            <a:off x="6089904" y="1609344"/>
            <a:ext cx="2688336" cy="31089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3" name="Text 51"/>
          <p:cNvSpPr/>
          <p:nvPr/>
        </p:nvSpPr>
        <p:spPr>
          <a:xfrm>
            <a:off x="6126480" y="164592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Configuracoes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44768" y="19751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unicamp.au1...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44768" y="235915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AppID: iotdlt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44768" y="27432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unicamp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44768" y="31272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Key: *** (seguro)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44768" y="351129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MQTT: 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44768" y="389534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e conectar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06056" y="1371600"/>
            <a:ext cx="256032" cy="137160"/>
          </a:xfrm>
          <a:prstGeom prst="ellipse">
            <a:avLst/>
          </a:prstGeom>
          <a:solidFill>
            <a:srgbClr val="0A0A15"/>
          </a:solidFill>
          <a:ln/>
        </p:spPr>
      </p:sp>
      <p:sp>
        <p:nvSpPr>
          <p:cNvPr id="61" name="Shape 59"/>
          <p:cNvSpPr/>
          <p:nvPr/>
        </p:nvSpPr>
        <p:spPr>
          <a:xfrm>
            <a:off x="530352" y="4663440"/>
            <a:ext cx="8430768" cy="310896"/>
          </a:xfrm>
          <a:prstGeom prst="roundRect">
            <a:avLst>
              <a:gd name="adj" fmla="val 11765"/>
            </a:avLst>
          </a:prstGeom>
          <a:solidFill>
            <a:srgbClr val="F8F8FC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" y="47000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Material3 Teal  |  3 abas: Dashboard / Alarmes / Configuracoes  |  Badge de alarmes ativos  |  Grafico Canvas customizado  |  Modo escuro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Tecnico: Android 15 (API 35)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 com FOREGROUND_SERVICE_TYPE_REMOTE_MESSAGING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1261872"/>
            <a:ext cx="3913632" cy="1389888"/>
          </a:xfrm>
          <a:prstGeom prst="roundRect">
            <a:avLst>
              <a:gd name="adj" fmla="val 4605"/>
            </a:avLst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(Android 15 / API 35)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3232" y="163677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DATA_SYNC foi depreciado no Android 15 e causa ForegroundServiceStartNotAllowedException ao iniciar o servico MQTT em background. Erro: FGS timeout — processo encerrado pelo sistema.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1261872"/>
            <a:ext cx="3867912" cy="1389888"/>
          </a:xfrm>
          <a:prstGeom prst="roundRect">
            <a:avLst>
              <a:gd name="adj" fmla="val 4605"/>
            </a:avLst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Solucao Implementada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163677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Mudado para REMOTE_MESSAGING no manifest e ServiceCompat.startForeground() com tipo condicional por versao do SDK. Resolucao testada com sucesso em Android 15.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2779776"/>
            <a:ext cx="7955280" cy="2029968"/>
          </a:xfrm>
          <a:prstGeom prst="roundRect">
            <a:avLst>
              <a:gd name="adj" fmla="val 270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.3319649473710286e+136" dist="5.327859789484111e+135" dir="2.1488384996855287e+159">
              <a:srgbClr val="000000">
                <a:alpha val="9.999999999999999e+163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3232" y="2852928"/>
            <a:ext cx="7717536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AndroidManifest.xml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&lt;uses-permission android:name="android.permission.FOREGROUND_SERVICE_REMOTE_MESSAGING"/&gt;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&lt;service android:foregroundServiceType="remoteMessaging" ... /&gt;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MqttForegroundService.kt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fgsType = when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Build.VERSION.SDK_INT &gt;= Build.VERSION_CODES.UPSIDE_DOWN_CAKE -&gt;  // API 34+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ServiceInfo.FOREGROUND_SERVICE_TYPE_REMOTE_MESSAGING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Build.VERSION.SDK_INT &gt;= Build.VERSION_CODES.O -&gt;  // API 26-33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ServiceInfo.FOREGROUND_SERVICE_TYPE_DATA_SYNC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-&gt;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ServiceCompat.startForeground(this, NOTIFICATION_ID, notification, fgsType)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Demonstracao do Prototipo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coletados de lorawan_node_1 via TTI e exibidos no app Android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3F0FA"/>
          </a:solidFill>
          <a:ln w="12700">
            <a:solidFill>
              <a:srgbClr val="006A63"/>
            </a:solidFill>
            <a:prstDash val="solid"/>
          </a:ln>
          <a:effectLst>
            <a:outerShdw sx="100000" sy="100000" kx="0" ky="0" algn="bl" rotWithShape="0" blurRad="1.6915954831612062e+140" dist="6.766381932644821e+139" dir="1.2893030998113172e+164">
              <a:srgbClr val="000000">
                <a:alpha val="1e+169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131673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3504" y="153619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C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3504" y="20482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97480" y="1261872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3F0FA"/>
          </a:solidFill>
          <a:ln w="12700">
            <a:solidFill>
              <a:srgbClr val="006A63"/>
            </a:solidFill>
            <a:prstDash val="solid"/>
          </a:ln>
          <a:effectLst>
            <a:outerShdw sx="100000" sy="100000" kx="0" ky="0" algn="bl" rotWithShape="0" blurRad="2.148326263614732e+144" dist="8.593305054458923e+143" dir="7.735818598867904e+168">
              <a:srgbClr val="000000">
                <a:alpha val="9.999999999999998e+173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52344" y="131673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 Rel.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52344" y="153619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53.6 %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752344" y="20482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1261872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3F0FA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2.7283743547907096e+148" dist="1.0913497419162833e+148" dir="4.6414911593207425e+173">
              <a:srgbClr val="000000">
                <a:alpha val="9.999999999999998e+178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01184" y="131673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Uplinks receb.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01184" y="153619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901184" y="20482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SEQ. NO.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95160" y="1261872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3F0F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.465035430584201e+152" dist="1.38601417223368e+152" dir="2.7848946955924455e+178">
              <a:srgbClr val="000000">
                <a:alpha val="9.999999999999998e+183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50024" y="1316736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MQTT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50024" y="153619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50024" y="2048256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8640" y="2560320"/>
            <a:ext cx="8412480" cy="603504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2633472"/>
            <a:ext cx="8211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funcionando com dados reais:  Device: lorawan_node_1 (nodo-2)  |  Rede: LoRaWAN AU915  |  Gateway: Dragino LPS8  |  Plataforma: TTI UNICAMP  |  App: Android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3200400"/>
            <a:ext cx="2670048" cy="768096"/>
          </a:xfrm>
          <a:prstGeom prst="roundRect">
            <a:avLst>
              <a:gd name="adj" fmla="val 7143"/>
            </a:avLst>
          </a:prstGeom>
          <a:solidFill>
            <a:srgbClr val="E0F2F1"/>
          </a:solidFill>
          <a:ln w="6350">
            <a:solidFill>
              <a:srgbClr val="006A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24612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Tempo Real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347472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via MQTT exibidas imediatamente com indicador de status (OK/ALTO/BAIXO)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355848" y="3200400"/>
            <a:ext cx="2670048" cy="768096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47288" y="324612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Historico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47288" y="347472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de linha Canvas com os ultimos 50 valores de temperatura e umidade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63056" y="3200400"/>
            <a:ext cx="2670048" cy="768096"/>
          </a:xfrm>
          <a:prstGeom prst="roundRect">
            <a:avLst>
              <a:gd name="adj" fmla="val 7143"/>
            </a:avLst>
          </a:prstGeom>
          <a:solidFill>
            <a:srgbClr val="FFEBEE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324612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Alarmes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54496" y="347472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configurados pelo usuario. Notificacoes push + badge na aba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" y="4023360"/>
            <a:ext cx="2670048" cy="768096"/>
          </a:xfrm>
          <a:prstGeom prst="roundRect">
            <a:avLst>
              <a:gd name="adj" fmla="val 7143"/>
            </a:avLst>
          </a:prstGeom>
          <a:solidFill>
            <a:srgbClr val="EDE7F6"/>
          </a:solidFill>
          <a:ln w="6350">
            <a:solidFill>
              <a:srgbClr val="5C2D9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06908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Room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" y="429768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Medicoes e historico de alarmes no banco SQLite via Room 2.7 (offline)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355848" y="4023360"/>
            <a:ext cx="2670048" cy="768096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47288" y="406908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Seguras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447288" y="429768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AppID, Tenant e API Key no DataStore (nunca hardcodados)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63056" y="4023360"/>
            <a:ext cx="2670048" cy="768096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54496" y="406908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 Persistente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54496" y="429768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ForegroundService sobrevive ao fechamento e compativel Android 15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Prototipo Foi Desenvolvido como Esperado?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 dos objetivos propostos versus resultados obtidos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1261872"/>
            <a:ext cx="7955280" cy="420624"/>
          </a:xfrm>
          <a:prstGeom prst="roundRect">
            <a:avLst>
              <a:gd name="adj" fmla="val 13043"/>
            </a:avLst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1316736"/>
            <a:ext cx="7717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Todos os requisitos do projeto foram atendidos e validados com dados reais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1901952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1901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9536" y="1828800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temperatura e umidade em tempo real via sensor DHT22 + LoRa32v2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2249424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22494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9536" y="2176272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Transmissao LoRaWAN (OTAA, AU915) com payload codificado e decodificado no TTI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2596896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25968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9536" y="2523744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com plataforma TTI (instancia UNICAMP) via MQTT/TLS porta 8883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2944368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2944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59536" y="2871216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Android com grafico historico, indicadores de status e atualizacao em tempo real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3291840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2918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9536" y="3218688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alarmes configuravel com notificacoes push e historico persistente (Room)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4360" y="3639312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6393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59536" y="3566160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com Android 15 (API 35) — FGS tipo REMOTE_MESSAGING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4360" y="3986784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3986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59536" y="3913632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TTN armazenadas com seguranca (DataStore), nunca hardcodadas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4360" y="4334256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43342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9536" y="4261104"/>
            <a:ext cx="7662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 com dados reais: 21.7 C, 53.6% RH, sequencia 4812 de lorawan_node_1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94360" y="4617720"/>
            <a:ext cx="7955280" cy="347472"/>
          </a:xfrm>
          <a:prstGeom prst="roundRect">
            <a:avLst>
              <a:gd name="adj" fmla="val 13158"/>
            </a:avLst>
          </a:prstGeom>
          <a:solidFill>
            <a:srgbClr val="F3F0FA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46634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entregue dentro do cronograma | Modulos M1-M6 todos integrados | Testado com hardware real em rede LoRaWAN produtiva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12848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45936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45936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45936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45936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48272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48272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48272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48272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50608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50608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50608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50608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150608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52944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52944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552944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552944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955280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955280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357616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57616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57616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57616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57616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759952" y="91440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759952" y="493776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59952" y="896112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759952" y="1298448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59952" y="1700784"/>
            <a:ext cx="82296" cy="8229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29184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44" name="Text 42"/>
          <p:cNvSpPr/>
          <p:nvPr/>
        </p:nvSpPr>
        <p:spPr>
          <a:xfrm>
            <a:off x="502920" y="14264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 de Ambientes  |  Curso Android IoT Embarcado  |  UNICAMP 2026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109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48640" y="23408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2615184"/>
            <a:ext cx="3977640" cy="676656"/>
          </a:xfrm>
          <a:prstGeom prst="roundRect">
            <a:avLst>
              <a:gd name="adj" fmla="val 9459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4.400594996841935e+156" dist="1.7602379987367734e+156" dir="1.6709368173554673e+183">
              <a:srgbClr val="000000">
                <a:alpha val="9.999999999999998e+188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" y="26700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end-to-end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0080" y="296265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Integramos hardware (LoRa32v2+DHT22), rede (LoRaWAN), nuvem (TTI) e app Android — todos os 6 modulos do curso em um projeto funcional.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3346704"/>
            <a:ext cx="3977640" cy="676656"/>
          </a:xfrm>
          <a:prstGeom prst="roundRect">
            <a:avLst>
              <a:gd name="adj" fmla="val 9459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5.588755645989258e+160" dist="2.235502258395702e+160" dir="1.0025620904132804e+188">
              <a:srgbClr val="000000">
                <a:alpha val="9.999999999999998e+193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080" y="3401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 producao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0080" y="369417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Lidamos com desafios reais: FGS Android 15, TLS/MQTT, persistencia Room, UI Material3 e arquitetura em camadas.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4078224"/>
            <a:ext cx="3977640" cy="676656"/>
          </a:xfrm>
          <a:prstGeom prst="roundRect">
            <a:avLst>
              <a:gd name="adj" fmla="val 9459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  <a:effectLst>
            <a:outerShdw sx="100000" sy="100000" kx="0" ky="0" algn="bl" rotWithShape="0" blurRad="7.097719670406357e+164" dist="2.8390878681625417e+164" dir="6.015372542479682e+192">
              <a:srgbClr val="000000">
                <a:alpha val="9.999999999999999e+198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40080" y="41330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na pratica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0080" y="442569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OTAA, AU915 e integracao com plataforma TTI empresarial — base solida para projetos IoT em escala real.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09160" y="23408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2743200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8" name="Text 56"/>
          <p:cNvSpPr/>
          <p:nvPr/>
        </p:nvSpPr>
        <p:spPr>
          <a:xfrm>
            <a:off x="4882896" y="26334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multiplos dispositivos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09160" y="3090672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0" name="Text 58"/>
          <p:cNvSpPr/>
          <p:nvPr/>
        </p:nvSpPr>
        <p:spPr>
          <a:xfrm>
            <a:off x="4882896" y="29809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para predicao de anomalias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3438144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2" name="Text 60"/>
          <p:cNvSpPr/>
          <p:nvPr/>
        </p:nvSpPr>
        <p:spPr>
          <a:xfrm>
            <a:off x="4882896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Exportacao CSV/JSON do historico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09160" y="3785616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4" name="Text 62"/>
          <p:cNvSpPr/>
          <p:nvPr/>
        </p:nvSpPr>
        <p:spPr>
          <a:xfrm>
            <a:off x="4882896" y="36758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(TTI Webhooks)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09160" y="4133088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6" name="Text 64"/>
          <p:cNvSpPr/>
          <p:nvPr/>
        </p:nvSpPr>
        <p:spPr>
          <a:xfrm>
            <a:off x="4882896" y="40233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Seguranca: certificate pinning MQTT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09160" y="4480560"/>
            <a:ext cx="109728" cy="109728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68" name="Text 66"/>
          <p:cNvSpPr/>
          <p:nvPr/>
        </p:nvSpPr>
        <p:spPr>
          <a:xfrm>
            <a:off x="4882896" y="43708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baixo consumo de bateria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" y="4809744"/>
            <a:ext cx="8046720" cy="256032"/>
          </a:xfrm>
          <a:prstGeom prst="roundRect">
            <a:avLst>
              <a:gd name="adj" fmla="val 17857"/>
            </a:avLst>
          </a:prstGeom>
          <a:solidFill>
            <a:srgbClr val="F3F0FA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4837176"/>
            <a:ext cx="7882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Andres Arteaga Lopez  |  Junho 2026  |  Repositorio: AndroidStudioProjects/environmental_monitoring  |  Android 8.0+ (API 26+)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Monitoramento Inteligente de Ambientes — Projeto Final</dc:title>
  <dc:subject>PptxGenJS Presentation</dc:subject>
  <dc:creator>Edison Andres Arteaga Lopez</dc:creator>
  <cp:lastModifiedBy>Edison Andres Arteaga Lopez</cp:lastModifiedBy>
  <cp:revision>1</cp:revision>
  <dcterms:created xsi:type="dcterms:W3CDTF">2026-06-19T01:20:36Z</dcterms:created>
  <dcterms:modified xsi:type="dcterms:W3CDTF">2026-06-19T01:20:36Z</dcterms:modified>
</cp:coreProperties>
</file>